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7" r:id="rId1"/>
  </p:sldMasterIdLst>
  <p:notesMasterIdLst>
    <p:notesMasterId r:id="rId24"/>
  </p:notesMasterIdLst>
  <p:sldIdLst>
    <p:sldId id="274" r:id="rId2"/>
    <p:sldId id="275" r:id="rId3"/>
    <p:sldId id="276" r:id="rId4"/>
    <p:sldId id="277" r:id="rId5"/>
    <p:sldId id="278" r:id="rId6"/>
    <p:sldId id="290" r:id="rId7"/>
    <p:sldId id="291" r:id="rId8"/>
    <p:sldId id="295" r:id="rId9"/>
    <p:sldId id="293" r:id="rId10"/>
    <p:sldId id="280" r:id="rId11"/>
    <p:sldId id="281" r:id="rId12"/>
    <p:sldId id="282" r:id="rId13"/>
    <p:sldId id="283" r:id="rId14"/>
    <p:sldId id="299" r:id="rId15"/>
    <p:sldId id="296" r:id="rId16"/>
    <p:sldId id="266" r:id="rId17"/>
    <p:sldId id="268" r:id="rId18"/>
    <p:sldId id="285" r:id="rId19"/>
    <p:sldId id="298" r:id="rId20"/>
    <p:sldId id="287" r:id="rId21"/>
    <p:sldId id="288" r:id="rId22"/>
    <p:sldId id="28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fX52E/O2vMdvfztXTaB/Ggd8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8579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fld id="{00000000-1234-1234-1234-123412341234}" type="slidenum">
              <a:rPr lang="en-US" smtClean="0"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3364D16-397A-A16E-95C8-EFCBAB66D8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kerere University - data.org">
            <a:extLst>
              <a:ext uri="{FF2B5EF4-FFF2-40B4-BE49-F238E27FC236}">
                <a16:creationId xmlns:a16="http://schemas.microsoft.com/office/drawing/2014/main" id="{F80BC8B0-28EA-762F-0D7A-5B6334F51B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4F89D84E-2BC7-4D37-DB09-CC9EC19BEC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0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B178440F-7742-4EF6-4D36-FA7782232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akerere University - data.org">
            <a:extLst>
              <a:ext uri="{FF2B5EF4-FFF2-40B4-BE49-F238E27FC236}">
                <a16:creationId xmlns:a16="http://schemas.microsoft.com/office/drawing/2014/main" id="{DFFA85FC-D464-4A1E-D99E-06ECBF3D5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04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DB6798A6-D4E5-DDF7-CD1E-636FF7036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2D8642E-3B24-38FE-1A15-7D064D0110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1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AAEE5B36-4AC6-34D0-3EE3-75ECA02E60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12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5DFE70A8-8DEC-E1E0-0F80-3CC5E4283A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25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8D6953CF-067D-E709-05F8-F0DD3D17A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67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F0389045-4EC2-D8FE-3AD1-AB97C511A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666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3D776D8-4C08-7E05-5A99-451839D024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77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AAD6571-8582-73A0-E399-4E24B7F44E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8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9FBD9A6-F4F7-4C81-8C3B-C6430A86515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akerere University - data.org">
            <a:extLst>
              <a:ext uri="{FF2B5EF4-FFF2-40B4-BE49-F238E27FC236}">
                <a16:creationId xmlns:a16="http://schemas.microsoft.com/office/drawing/2014/main" id="{DE1A894A-8052-B57C-2DF3-1C78D4ABAF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7475E0E-31FE-D872-A2E6-0821144EF9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82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8890" y="5081436"/>
            <a:ext cx="3741575" cy="146304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Department of Computer Science, COCIS</a:t>
            </a:r>
            <a:br>
              <a:rPr lang="en-US" sz="2800" dirty="0"/>
            </a:br>
            <a:r>
              <a:rPr lang="en-US" sz="2800" dirty="0"/>
              <a:t>Makerere University</a:t>
            </a:r>
            <a:br>
              <a:rPr lang="en-US" sz="2800" dirty="0"/>
            </a:br>
            <a:r>
              <a:rPr lang="en-US" sz="2800" dirty="0"/>
              <a:t>Lecturer: Ggaliwango Marvin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9661" y="5016121"/>
            <a:ext cx="7904584" cy="1463040"/>
          </a:xfrm>
        </p:spPr>
        <p:txBody>
          <a:bodyPr>
            <a:normAutofit/>
          </a:bodyPr>
          <a:lstStyle/>
          <a:p>
            <a:r>
              <a:rPr dirty="0"/>
              <a:t>- </a:t>
            </a:r>
            <a:r>
              <a:rPr lang="en-US" dirty="0"/>
              <a:t>ML-D-31 (</a:t>
            </a:r>
            <a:r>
              <a:rPr dirty="0"/>
              <a:t>G</a:t>
            </a:r>
            <a:r>
              <a:rPr lang="en-GB" dirty="0"/>
              <a:t>ROUP</a:t>
            </a:r>
            <a:r>
              <a:rPr dirty="0"/>
              <a:t> </a:t>
            </a:r>
            <a:r>
              <a:rPr lang="en-GB" dirty="0"/>
              <a:t>31)</a:t>
            </a:r>
            <a:endParaRPr dirty="0"/>
          </a:p>
          <a:p>
            <a:r>
              <a:rPr dirty="0"/>
              <a:t>- </a:t>
            </a:r>
            <a:r>
              <a:rPr lang="en-GB" dirty="0"/>
              <a:t>ABONYO MITCHELL NINA   23/U/0095</a:t>
            </a:r>
          </a:p>
          <a:p>
            <a:r>
              <a:rPr lang="en-GB" dirty="0"/>
              <a:t>- NAKIGULI ELIZABETH GLORIA   23/U/13736/PS</a:t>
            </a:r>
            <a:endParaRPr dirty="0"/>
          </a:p>
        </p:txBody>
      </p:sp>
      <p:sp>
        <p:nvSpPr>
          <p:cNvPr id="5" name="Google Shape;121;p5">
            <a:extLst>
              <a:ext uri="{FF2B5EF4-FFF2-40B4-BE49-F238E27FC236}">
                <a16:creationId xmlns:a16="http://schemas.microsoft.com/office/drawing/2014/main" id="{4E878665-B1AB-FD8C-60BD-A80BFE938BBB}"/>
              </a:ext>
            </a:extLst>
          </p:cNvPr>
          <p:cNvSpPr txBox="1">
            <a:spLocks/>
          </p:cNvSpPr>
          <p:nvPr/>
        </p:nvSpPr>
        <p:spPr>
          <a:xfrm>
            <a:off x="643812" y="3429000"/>
            <a:ext cx="10730204" cy="6059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b="1" dirty="0"/>
              <a:t>Keyword</a:t>
            </a:r>
            <a:r>
              <a:rPr lang="en-US" dirty="0"/>
              <a:t>s: </a:t>
            </a:r>
            <a:r>
              <a:rPr lang="en-GB" dirty="0"/>
              <a:t>Age-Related Macular Degeneration, Optical Coherence Tomography, Graph Attention Networks, Capsule Networks, Knowledge Distillation, Vision Transformers</a:t>
            </a:r>
            <a:endParaRPr lang="en-US" dirty="0"/>
          </a:p>
        </p:txBody>
      </p:sp>
      <p:sp>
        <p:nvSpPr>
          <p:cNvPr id="6" name="Google Shape;95;p1">
            <a:extLst>
              <a:ext uri="{FF2B5EF4-FFF2-40B4-BE49-F238E27FC236}">
                <a16:creationId xmlns:a16="http://schemas.microsoft.com/office/drawing/2014/main" id="{D45BDEC5-3242-EBA4-7E1E-6BAD9B148C53}"/>
              </a:ext>
            </a:extLst>
          </p:cNvPr>
          <p:cNvSpPr/>
          <p:nvPr/>
        </p:nvSpPr>
        <p:spPr>
          <a:xfrm>
            <a:off x="475861" y="813320"/>
            <a:ext cx="10235681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dk1"/>
                </a:solidFill>
              </a:rPr>
              <a:t>GRAPH ATTENTION MECHANISMS FOR MACULAR DEGENERATION DISEASE DIAGNOSIS USING SELF-ROUTING CAPSULE KNOWLEDGE DISTILLATION</a:t>
            </a:r>
          </a:p>
          <a:p>
            <a:pPr algn="ctr"/>
            <a:r>
              <a:rPr lang="en-US" sz="4000" b="1" i="1" dirty="0">
                <a:solidFill>
                  <a:schemeClr val="dk1"/>
                </a:solidFill>
              </a:rPr>
              <a:t>OcuMed</a:t>
            </a:r>
            <a:endParaRPr sz="40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737360"/>
            <a:ext cx="9720071" cy="453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Macular Degeneration, also known as Age-related Macular Degeneration (AMD), is among the leading causes of irreversible blindness in older adults worldwide.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Early detection is difficult due to the subtle nature of initial symptoms.</a:t>
            </a:r>
          </a:p>
          <a:p>
            <a:pPr marL="0" indent="0">
              <a:buNone/>
            </a:pPr>
            <a:endParaRPr lang="en-GB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35EF6-46EF-4BF4-B2DB-34583439B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170" y="3044478"/>
            <a:ext cx="5554766" cy="3605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B9A02-C1CF-4B3B-9701-677AA60F9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" y="2998471"/>
            <a:ext cx="5372099" cy="3549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52244"/>
            <a:ext cx="972007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Develop a machine learning model for the early detection of macular degeneration.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Improve diagnostic accuracy and speed of AMD.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Provide an accessible tool for medical professionals.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Increase diagnosis accessibility for patients in regions with limited healthcare resources.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28800"/>
            <a:ext cx="9720071" cy="4480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Our project leverages deep learning techniques such as Vision Transformers, Graph Attention Mechanisms, Capsule Networks and Knowledge Distillation to design an AI-driven support system for ophthalmologists.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 system will analyse retinal OCT scan images to aid the early detection of AMD.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73A22-C2DD-634A-7149-A6A4580D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71" y="4069079"/>
            <a:ext cx="9546772" cy="1983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345373"/>
            <a:ext cx="9720072" cy="1499616"/>
          </a:xfrm>
        </p:spPr>
        <p:txBody>
          <a:bodyPr/>
          <a:lstStyle/>
          <a:p>
            <a:r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530196"/>
            <a:ext cx="10356636" cy="16491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We used a publicly available retinal image AMD-SD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consists of 3049 Optical Coherence Tomography (OCT) images.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images have a resolution of 570x380 pixels ensuring high detail for analysis. </a:t>
            </a:r>
          </a:p>
          <a:p>
            <a:pPr marL="0" indent="0">
              <a:buNone/>
            </a:pPr>
            <a:endParaRPr lang="en-GB" b="1" dirty="0"/>
          </a:p>
          <a:p>
            <a:endParaRPr lang="en-GB" dirty="0"/>
          </a:p>
          <a:p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4F5974-FD8E-474E-911C-FE3FC704A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01421"/>
              </p:ext>
            </p:extLst>
          </p:nvPr>
        </p:nvGraphicFramePr>
        <p:xfrm>
          <a:off x="1581013" y="3175781"/>
          <a:ext cx="812800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486056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96609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200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96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/>
                        <a:t>Dataset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AMD-SD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337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/>
                        <a:t>Number of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138 patients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9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/>
                        <a:t>Number of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3049 OCT B-scan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74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/>
                        <a:t>Dataset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Images folder, Demographics file, Training text file, Validation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014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200" dirty="0"/>
                        <a:t>Demographics considered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Patient ID, Eye ID, Eye category, Age, Sex, Time acquired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7513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FA899A-59D7-472A-AF59-45EA9733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E0BE9D-0F55-43CC-A3F4-3A9C110C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1471611"/>
            <a:ext cx="5353050" cy="4333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E93644-7578-428D-A4C4-C6285160C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275" y="1471612"/>
            <a:ext cx="53530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2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DA6355-DF16-442C-9D86-A20893A5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928D6-9640-48B4-B363-8C2ADD85A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13" y="552450"/>
            <a:ext cx="9615488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2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9CD8-0940-467C-8413-AD72D93D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AND TECHNIQUES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24B663E-F470-427B-BF01-D64568F98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891198"/>
              </p:ext>
            </p:extLst>
          </p:nvPr>
        </p:nvGraphicFramePr>
        <p:xfrm>
          <a:off x="1023936" y="1948374"/>
          <a:ext cx="10033272" cy="4199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318">
                  <a:extLst>
                    <a:ext uri="{9D8B030D-6E8A-4147-A177-3AD203B41FA5}">
                      <a16:colId xmlns:a16="http://schemas.microsoft.com/office/drawing/2014/main" val="3846938124"/>
                    </a:ext>
                  </a:extLst>
                </a:gridCol>
                <a:gridCol w="2508318">
                  <a:extLst>
                    <a:ext uri="{9D8B030D-6E8A-4147-A177-3AD203B41FA5}">
                      <a16:colId xmlns:a16="http://schemas.microsoft.com/office/drawing/2014/main" val="4267537100"/>
                    </a:ext>
                  </a:extLst>
                </a:gridCol>
                <a:gridCol w="2508318">
                  <a:extLst>
                    <a:ext uri="{9D8B030D-6E8A-4147-A177-3AD203B41FA5}">
                      <a16:colId xmlns:a16="http://schemas.microsoft.com/office/drawing/2014/main" val="484908824"/>
                    </a:ext>
                  </a:extLst>
                </a:gridCol>
                <a:gridCol w="2508318">
                  <a:extLst>
                    <a:ext uri="{9D8B030D-6E8A-4147-A177-3AD203B41FA5}">
                      <a16:colId xmlns:a16="http://schemas.microsoft.com/office/drawing/2014/main" val="1418667874"/>
                    </a:ext>
                  </a:extLst>
                </a:gridCol>
              </a:tblGrid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DICE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42452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0.81846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0.7891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0.9898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347520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RESNET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0.8854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0.8605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0.9943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53621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U-NET_VITs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0.78632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0.75848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50179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U-NET_GATs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0.0022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0.7844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627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RNN_CNN_KD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0.9815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592257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ATT_CNN_KD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0.9816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04633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U-NET++_CNN_KD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0.9813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035777"/>
                  </a:ext>
                </a:extLst>
              </a:tr>
              <a:tr h="466579">
                <a:tc>
                  <a:txBody>
                    <a:bodyPr/>
                    <a:lstStyle/>
                    <a:p>
                      <a:r>
                        <a:rPr lang="en-GB" sz="2200" dirty="0"/>
                        <a:t>U-NET++_KD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0.9801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9088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216F5-08C8-4C46-9F5D-93059E63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43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4A44A-D6A6-43DC-8216-C97FB23C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B0395C-DB4C-4DA7-9D17-5E71F3407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034" y="1329496"/>
            <a:ext cx="10615407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Vision Transformers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long-range dependencies in image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 retinal layer segmentation for precise lesion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Self-routing Capsule Networks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Enhance global feature extraction by integrating self-attention mechanisms.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Maintain structural information for better lesion detection.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Graph Attention Networks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/>
              <a:t>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nhance segmentation, focusing on critical regions</a:t>
            </a:r>
            <a:r>
              <a:rPr kumimoji="0" lang="en-US" altLang="en-US" sz="2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by treating OCT scan images as graphs.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Knowledge Distillation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/>
              <a:t>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ptimizes model size while preserving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BF2F0A-91FB-48AC-A36D-0BE3BFF99669}"/>
              </a:ext>
            </a:extLst>
          </p:cNvPr>
          <p:cNvSpPr/>
          <p:nvPr/>
        </p:nvSpPr>
        <p:spPr>
          <a:xfrm>
            <a:off x="1379518" y="129168"/>
            <a:ext cx="71807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5000" dirty="0">
                <a:latin typeface="+mj-lt"/>
              </a:rPr>
              <a:t>WHY THESE TECHNIQUES?</a:t>
            </a:r>
          </a:p>
        </p:txBody>
      </p:sp>
    </p:spTree>
    <p:extLst>
      <p:ext uri="{BB962C8B-B14F-4D97-AF65-F5344CB8AC3E}">
        <p14:creationId xmlns:p14="http://schemas.microsoft.com/office/powerpoint/2010/main" val="129386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1AF77-1584-0B3D-795A-598F8527B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1700212"/>
            <a:ext cx="9143129" cy="44175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DBDB7E-D9B3-48F2-9500-534F23BE4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51338"/>
              </p:ext>
            </p:extLst>
          </p:nvPr>
        </p:nvGraphicFramePr>
        <p:xfrm>
          <a:off x="1392702" y="2084832"/>
          <a:ext cx="8120184" cy="2402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6184">
                  <a:extLst>
                    <a:ext uri="{9D8B030D-6E8A-4147-A177-3AD203B41FA5}">
                      <a16:colId xmlns:a16="http://schemas.microsoft.com/office/drawing/2014/main" val="13744980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3642888"/>
                    </a:ext>
                  </a:extLst>
                </a:gridCol>
              </a:tblGrid>
              <a:tr h="600691">
                <a:tc>
                  <a:txBody>
                    <a:bodyPr/>
                    <a:lstStyle/>
                    <a:p>
                      <a:r>
                        <a:rPr lang="en-GB" sz="2200" dirty="0"/>
                        <a:t>Implementation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Implementation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570744"/>
                  </a:ext>
                </a:extLst>
              </a:tr>
              <a:tr h="600691">
                <a:tc>
                  <a:txBody>
                    <a:bodyPr/>
                    <a:lstStyle/>
                    <a:p>
                      <a:r>
                        <a:rPr lang="en-GB" sz="2200" dirty="0"/>
                        <a:t>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247925"/>
                  </a:ext>
                </a:extLst>
              </a:tr>
              <a:tr h="600691">
                <a:tc>
                  <a:txBody>
                    <a:bodyPr/>
                    <a:lstStyle/>
                    <a:p>
                      <a:r>
                        <a:rPr lang="en-GB" sz="2200" dirty="0"/>
                        <a:t>Libraries/Frameworks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TensorFlow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123205"/>
                  </a:ext>
                </a:extLst>
              </a:tr>
              <a:tr h="600691">
                <a:tc>
                  <a:txBody>
                    <a:bodyPr/>
                    <a:lstStyle/>
                    <a:p>
                      <a:r>
                        <a:rPr lang="en-GB" sz="2200" dirty="0"/>
                        <a:t>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Kaggle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798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Evaluation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A97BA3-AC82-A780-E88F-8580886B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91" y="1598539"/>
            <a:ext cx="8707901" cy="5096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Impact &amp;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92085"/>
            <a:ext cx="10314432" cy="4615543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4000" dirty="0"/>
              <a:t>The target users and beneficiaries of our work are the doctors and healthcare professionals in hospitals and eye clinics, researchers, and public health organizations.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4000" dirty="0"/>
              <a:t>Our work aligns with some SDGs such as:</a:t>
            </a:r>
          </a:p>
          <a:p>
            <a:pPr marL="0" indent="0">
              <a:buNone/>
            </a:pPr>
            <a:r>
              <a:rPr lang="en-GB" sz="4000" b="1" dirty="0"/>
              <a:t>i) SDG 3 - Good Health &amp; Well-being </a:t>
            </a:r>
          </a:p>
          <a:p>
            <a:pPr marL="0" indent="0">
              <a:buNone/>
            </a:pPr>
            <a:r>
              <a:rPr lang="en-GB" sz="4000" b="1" dirty="0"/>
              <a:t>ii) SDG 9 - Innovation and Infrastructure. </a:t>
            </a:r>
          </a:p>
          <a:p>
            <a:pPr marL="0" indent="0">
              <a:buNone/>
            </a:pPr>
            <a:endParaRPr lang="en-GB" sz="4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4000" dirty="0"/>
              <a:t>The expected benefits of our project include</a:t>
            </a:r>
            <a:r>
              <a:rPr lang="en-GB" sz="4000" i="1" dirty="0"/>
              <a:t>:</a:t>
            </a:r>
          </a:p>
          <a:p>
            <a:pPr marL="0" indent="0">
              <a:buNone/>
            </a:pPr>
            <a:r>
              <a:rPr lang="en-GB" sz="4000" dirty="0"/>
              <a:t>-Reduction in the blindness rates worldwide.</a:t>
            </a:r>
          </a:p>
          <a:p>
            <a:pPr marL="0" indent="0">
              <a:buNone/>
            </a:pPr>
            <a:r>
              <a:rPr lang="en-GB" sz="4000" dirty="0"/>
              <a:t>-Improved accuracy and speed in the diagnosis of AMD which can lead to better treatment planning.</a:t>
            </a:r>
          </a:p>
          <a:p>
            <a:pPr marL="0" indent="0">
              <a:buNone/>
            </a:pPr>
            <a:r>
              <a:rPr lang="en-GB" sz="4000" dirty="0"/>
              <a:t>-Improved and proper planning due to early detection of macular degeneration.</a:t>
            </a:r>
          </a:p>
          <a:p>
            <a:endParaRPr lang="en-GB" sz="4000"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B325D-3614-B11F-537E-F346EDAB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7875-F40D-6CA9-3CF6-ECB9EA5B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964" y="0"/>
            <a:ext cx="9720072" cy="1499616"/>
          </a:xfrm>
        </p:spPr>
        <p:txBody>
          <a:bodyPr/>
          <a:lstStyle/>
          <a:p>
            <a:r>
              <a:rPr lang="en-US" dirty="0"/>
              <a:t>COMPETITIVE ADVANTAGE ANALYSIS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8DF3DE-BD0B-28BC-EE97-72DC46BFD2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172078"/>
              </p:ext>
            </p:extLst>
          </p:nvPr>
        </p:nvGraphicFramePr>
        <p:xfrm>
          <a:off x="783771" y="1350262"/>
          <a:ext cx="10887352" cy="4867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924">
                  <a:extLst>
                    <a:ext uri="{9D8B030D-6E8A-4147-A177-3AD203B41FA5}">
                      <a16:colId xmlns:a16="http://schemas.microsoft.com/office/drawing/2014/main" val="203689676"/>
                    </a:ext>
                  </a:extLst>
                </a:gridCol>
                <a:gridCol w="2749476">
                  <a:extLst>
                    <a:ext uri="{9D8B030D-6E8A-4147-A177-3AD203B41FA5}">
                      <a16:colId xmlns:a16="http://schemas.microsoft.com/office/drawing/2014/main" val="2705656737"/>
                    </a:ext>
                  </a:extLst>
                </a:gridCol>
                <a:gridCol w="2749476">
                  <a:extLst>
                    <a:ext uri="{9D8B030D-6E8A-4147-A177-3AD203B41FA5}">
                      <a16:colId xmlns:a16="http://schemas.microsoft.com/office/drawing/2014/main" val="2891281597"/>
                    </a:ext>
                  </a:extLst>
                </a:gridCol>
                <a:gridCol w="2749476">
                  <a:extLst>
                    <a:ext uri="{9D8B030D-6E8A-4147-A177-3AD203B41FA5}">
                      <a16:colId xmlns:a16="http://schemas.microsoft.com/office/drawing/2014/main" val="2837883596"/>
                    </a:ext>
                  </a:extLst>
                </a:gridCol>
              </a:tblGrid>
              <a:tr h="1026437">
                <a:tc>
                  <a:txBody>
                    <a:bodyPr/>
                    <a:lstStyle/>
                    <a:p>
                      <a:r>
                        <a:rPr lang="en-US" sz="2200" dirty="0"/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Weaknesses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How our system is different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916656"/>
                  </a:ext>
                </a:extLst>
              </a:tr>
              <a:tr h="2381333">
                <a:tc>
                  <a:txBody>
                    <a:bodyPr/>
                    <a:lstStyle/>
                    <a:p>
                      <a:r>
                        <a:rPr lang="en-US" sz="2200" dirty="0"/>
                        <a:t>Retina-AI Health(US)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Commercialized for hospitals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-Requires well equipped medical facilities.</a:t>
                      </a:r>
                    </a:p>
                    <a:p>
                      <a:r>
                        <a:rPr lang="en-US" sz="2200" dirty="0"/>
                        <a:t>-Focuses on late AMD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-Optimized for low-cost medical facilities</a:t>
                      </a:r>
                    </a:p>
                    <a:p>
                      <a:r>
                        <a:rPr lang="en-US" sz="2200" dirty="0"/>
                        <a:t>-Promotes early AMD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604795"/>
                  </a:ext>
                </a:extLst>
              </a:tr>
              <a:tr h="1459888">
                <a:tc>
                  <a:txBody>
                    <a:bodyPr/>
                    <a:lstStyle/>
                    <a:p>
                      <a:r>
                        <a:rPr lang="en-US" sz="2200" dirty="0"/>
                        <a:t>Eyenuk(US)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Used cloud-based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Requires high-quality images.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Supports the lower resolution images.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359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57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D3F2-9BE7-45CC-9A6D-6D19C6B5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Monetization &amp; Scaling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BA8E6D-1387-413F-887E-CFB14B38E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269100"/>
              </p:ext>
            </p:extLst>
          </p:nvPr>
        </p:nvGraphicFramePr>
        <p:xfrm>
          <a:off x="1023938" y="1913206"/>
          <a:ext cx="9720261" cy="38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87">
                  <a:extLst>
                    <a:ext uri="{9D8B030D-6E8A-4147-A177-3AD203B41FA5}">
                      <a16:colId xmlns:a16="http://schemas.microsoft.com/office/drawing/2014/main" val="433270020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391759009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516108001"/>
                    </a:ext>
                  </a:extLst>
                </a:gridCol>
              </a:tblGrid>
              <a:tr h="542160">
                <a:tc>
                  <a:txBody>
                    <a:bodyPr/>
                    <a:lstStyle/>
                    <a:p>
                      <a:r>
                        <a:rPr lang="en-GB" sz="2200" dirty="0"/>
                        <a:t>Market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Monetisation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Go-To-Market Strategy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806385"/>
                  </a:ext>
                </a:extLst>
              </a:tr>
              <a:tr h="968142">
                <a:tc>
                  <a:txBody>
                    <a:bodyPr/>
                    <a:lstStyle/>
                    <a:p>
                      <a:r>
                        <a:rPr lang="en-GB" sz="2200" dirty="0"/>
                        <a:t>Collaboration with hospitals such as Mengo Hospital.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0" dirty="0"/>
                        <a:t>Subscription-Based API (monthly or annually)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0" dirty="0"/>
                        <a:t>Pilot 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770101"/>
                  </a:ext>
                </a:extLst>
              </a:tr>
              <a:tr h="968142">
                <a:tc>
                  <a:txBody>
                    <a:bodyPr/>
                    <a:lstStyle/>
                    <a:p>
                      <a:r>
                        <a:rPr lang="en-GB" sz="2200" dirty="0"/>
                        <a:t>Collaboration with eye clinics such as Georgina Eye Clinic.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0" dirty="0"/>
                        <a:t>Pay-Per-Scan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0" dirty="0"/>
                        <a:t>Marketing &amp; Partnerships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1095"/>
                  </a:ext>
                </a:extLst>
              </a:tr>
              <a:tr h="968142">
                <a:tc>
                  <a:txBody>
                    <a:bodyPr/>
                    <a:lstStyle/>
                    <a:p>
                      <a:r>
                        <a:rPr lang="en-GB" sz="2200" dirty="0"/>
                        <a:t>Collaboration with research institutions such as Makerere University.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0" dirty="0"/>
                        <a:t>Licensing for Medical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b="0" dirty="0"/>
                        <a:t>Investor Funding &amp; Grants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53506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976B2-3F1E-4270-A0EE-51674EBE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5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Intellectual Property &amp; Innovation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A672D8-6538-CC78-2374-3F87D2602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701110"/>
              </p:ext>
            </p:extLst>
          </p:nvPr>
        </p:nvGraphicFramePr>
        <p:xfrm>
          <a:off x="1235964" y="1894114"/>
          <a:ext cx="972007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036">
                  <a:extLst>
                    <a:ext uri="{9D8B030D-6E8A-4147-A177-3AD203B41FA5}">
                      <a16:colId xmlns:a16="http://schemas.microsoft.com/office/drawing/2014/main" val="4220926432"/>
                    </a:ext>
                  </a:extLst>
                </a:gridCol>
                <a:gridCol w="4860036">
                  <a:extLst>
                    <a:ext uri="{9D8B030D-6E8A-4147-A177-3AD203B41FA5}">
                      <a16:colId xmlns:a16="http://schemas.microsoft.com/office/drawing/2014/main" val="2199058208"/>
                    </a:ext>
                  </a:extLst>
                </a:gridCol>
              </a:tblGrid>
              <a:tr h="365270">
                <a:tc>
                  <a:txBody>
                    <a:bodyPr/>
                    <a:lstStyle/>
                    <a:p>
                      <a:r>
                        <a:rPr lang="en-US" sz="2200" dirty="0"/>
                        <a:t>Protection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Element in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626509"/>
                  </a:ext>
                </a:extLst>
              </a:tr>
              <a:tr h="365270">
                <a:tc>
                  <a:txBody>
                    <a:bodyPr/>
                    <a:lstStyle/>
                    <a:p>
                      <a:r>
                        <a:rPr lang="en-US" sz="2200" dirty="0"/>
                        <a:t>Patent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AI algorithms and techniques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972635"/>
                  </a:ext>
                </a:extLst>
              </a:tr>
              <a:tr h="365270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2200" dirty="0"/>
                        <a:t>Software Code Implemented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3504"/>
                  </a:ext>
                </a:extLst>
              </a:tr>
              <a:tr h="873034"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System architecture (ensures that AI algorithms seamlessly integrate within the hospital systems through the use of APIs)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729062"/>
                  </a:ext>
                </a:extLst>
              </a:tr>
              <a:tr h="365270">
                <a:tc>
                  <a:txBody>
                    <a:bodyPr/>
                    <a:lstStyle/>
                    <a:p>
                      <a:r>
                        <a:rPr lang="en-US" sz="2200" dirty="0"/>
                        <a:t>Copyright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Source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811649"/>
                  </a:ext>
                </a:extLst>
              </a:tr>
              <a:tr h="365270"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UI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41530"/>
                  </a:ext>
                </a:extLst>
              </a:tr>
              <a:tr h="365270"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Associated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918918"/>
                  </a:ext>
                </a:extLst>
              </a:tr>
              <a:tr h="365270">
                <a:tc>
                  <a:txBody>
                    <a:bodyPr/>
                    <a:lstStyle/>
                    <a:p>
                      <a:r>
                        <a:rPr lang="en-US" sz="2200" dirty="0"/>
                        <a:t>Trademarks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System/Brand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775309"/>
                  </a:ext>
                </a:extLst>
              </a:tr>
              <a:tr h="365270">
                <a:tc>
                  <a:txBody>
                    <a:bodyPr/>
                    <a:lstStyle/>
                    <a:p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System/Brand Logo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00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85071"/>
            <a:ext cx="9720071" cy="4424289"/>
          </a:xfrm>
        </p:spPr>
        <p:txBody>
          <a:bodyPr/>
          <a:lstStyle/>
          <a:p>
            <a:r>
              <a:rPr lang="en-GB" dirty="0"/>
              <a:t>Below are demo interface screenshots on how our model, once deployed would be applied in a real-world clinical setting:</a:t>
            </a:r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D2794-EA16-7A9A-D50A-911F57A54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3" y="3085190"/>
            <a:ext cx="3352116" cy="3114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235371-2CD9-4881-73DE-0137993DA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503" y="3085190"/>
            <a:ext cx="2670279" cy="3114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157725-FB09-7986-AF16-33375EEC6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727" y="3056719"/>
            <a:ext cx="3913971" cy="31425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572BE2-4E6A-4FB8-941D-F9C9BD311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4602"/>
              </p:ext>
            </p:extLst>
          </p:nvPr>
        </p:nvGraphicFramePr>
        <p:xfrm>
          <a:off x="1143500" y="2263513"/>
          <a:ext cx="9481327" cy="3747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5059">
                  <a:extLst>
                    <a:ext uri="{9D8B030D-6E8A-4147-A177-3AD203B41FA5}">
                      <a16:colId xmlns:a16="http://schemas.microsoft.com/office/drawing/2014/main" val="3303691655"/>
                    </a:ext>
                  </a:extLst>
                </a:gridCol>
                <a:gridCol w="4846268">
                  <a:extLst>
                    <a:ext uri="{9D8B030D-6E8A-4147-A177-3AD203B41FA5}">
                      <a16:colId xmlns:a16="http://schemas.microsoft.com/office/drawing/2014/main" val="2805981429"/>
                    </a:ext>
                  </a:extLst>
                </a:gridCol>
              </a:tblGrid>
              <a:tr h="936885">
                <a:tc>
                  <a:txBody>
                    <a:bodyPr/>
                    <a:lstStyle/>
                    <a:p>
                      <a:r>
                        <a:rPr lang="en-GB" sz="2200" dirty="0"/>
                        <a:t>ABONYO MITCHELL NINA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NAKIGULI ELIZABETH GLORIA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10698"/>
                  </a:ext>
                </a:extLst>
              </a:tr>
              <a:tr h="936885">
                <a:tc>
                  <a:txBody>
                    <a:bodyPr/>
                    <a:lstStyle/>
                    <a:p>
                      <a:r>
                        <a:rPr lang="en-GB" sz="2200" dirty="0"/>
                        <a:t>Model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Model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64187"/>
                  </a:ext>
                </a:extLst>
              </a:tr>
              <a:tr h="936885">
                <a:tc>
                  <a:txBody>
                    <a:bodyPr/>
                    <a:lstStyle/>
                    <a:p>
                      <a:r>
                        <a:rPr lang="en-GB" sz="2200" dirty="0"/>
                        <a:t>Model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Model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546171"/>
                  </a:ext>
                </a:extLst>
              </a:tr>
              <a:tr h="936885">
                <a:tc>
                  <a:txBody>
                    <a:bodyPr/>
                    <a:lstStyle/>
                    <a:p>
                      <a:r>
                        <a:rPr lang="en-GB" sz="2200" dirty="0"/>
                        <a:t>UI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Preparation of necessary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2047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E044-8996-4730-9EEB-09891C9E5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Lessons Learned &amp; Challenges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D42481A-C6AD-4BDB-BEBA-D4AE98DFC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099589"/>
              </p:ext>
            </p:extLst>
          </p:nvPr>
        </p:nvGraphicFramePr>
        <p:xfrm>
          <a:off x="1023938" y="2002971"/>
          <a:ext cx="9720262" cy="3853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131">
                  <a:extLst>
                    <a:ext uri="{9D8B030D-6E8A-4147-A177-3AD203B41FA5}">
                      <a16:colId xmlns:a16="http://schemas.microsoft.com/office/drawing/2014/main" val="3352462002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394691180"/>
                    </a:ext>
                  </a:extLst>
                </a:gridCol>
              </a:tblGrid>
              <a:tr h="924801">
                <a:tc>
                  <a:txBody>
                    <a:bodyPr/>
                    <a:lstStyle/>
                    <a:p>
                      <a:r>
                        <a:rPr lang="en-GB" sz="2200" dirty="0"/>
                        <a:t>LESSONS LEARNED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668597"/>
                  </a:ext>
                </a:extLst>
              </a:tr>
              <a:tr h="1079140">
                <a:tc>
                  <a:txBody>
                    <a:bodyPr/>
                    <a:lstStyle/>
                    <a:p>
                      <a:r>
                        <a:rPr lang="en-GB" sz="2200" dirty="0"/>
                        <a:t>Model Interpretability through explainable AI is crucial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Model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171119"/>
                  </a:ext>
                </a:extLst>
              </a:tr>
              <a:tr h="924801">
                <a:tc>
                  <a:txBody>
                    <a:bodyPr/>
                    <a:lstStyle/>
                    <a:p>
                      <a:r>
                        <a:rPr lang="en-GB" sz="2200" dirty="0"/>
                        <a:t>Patience in trouble shooting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Deployment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009269"/>
                  </a:ext>
                </a:extLst>
              </a:tr>
              <a:tr h="924801">
                <a:tc>
                  <a:txBody>
                    <a:bodyPr/>
                    <a:lstStyle/>
                    <a:p>
                      <a:r>
                        <a:rPr lang="en-GB" sz="2200" dirty="0"/>
                        <a:t>Iterative development is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Scarcity of publicly available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84401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95891-0646-42C5-A67B-4AC684AC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14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730326"/>
            <a:ext cx="9720071" cy="4234260"/>
          </a:xfrm>
        </p:spPr>
        <p:txBody>
          <a:bodyPr>
            <a:normAutofit/>
          </a:bodyPr>
          <a:lstStyle/>
          <a:p>
            <a:r>
              <a:rPr lang="en-US" dirty="0"/>
              <a:t>Future efforts will focus 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Deploying the model in real-world clinical settings to assess its practicality and impact on healthcare delivery.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Enhancing model accuracy with larger datasets.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Integration with electronic health record (EHR) systems in hospitals and eye clinics.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Developing a user-friendly application or website.</a:t>
            </a:r>
          </a:p>
          <a:p>
            <a:endParaRPr lang="en-GB" dirty="0"/>
          </a:p>
          <a:p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63969"/>
            <a:ext cx="972007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Our project demonstrates the great potential of Artificial Intelligence (AI) in transforming ophthalmology by providing an affordable and efficient AMD detection system.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 integration of Graph Attention Networks, capsule networks, knowledge distillation helped us develop a model with robust feature extraction and great interpretability to aid the early detection of AMD among people.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Future work will focus on enhancing model generalization by increasing dataset diversity and optimizing the model’s efficiency in order to contribute to the widespread adoption of AI in ophthalmology.</a:t>
            </a:r>
            <a:endParaRPr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ABONYO MITCHELL NINA</a:t>
            </a:r>
          </a:p>
          <a:p>
            <a:r>
              <a:rPr lang="en-GB" dirty="0"/>
              <a:t>Email: mtchllnina@gmail.com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NAKIGULI ELIZABETH GLORIA</a:t>
            </a:r>
          </a:p>
          <a:p>
            <a:r>
              <a:rPr lang="en-GB" dirty="0"/>
              <a:t>Email: nakiguligloria5@gmail.com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2612</TotalTime>
  <Words>965</Words>
  <Application>Microsoft Office PowerPoint</Application>
  <PresentationFormat>Widescreen</PresentationFormat>
  <Paragraphs>195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Department of Computer Science, COCIS Makerere University Lecturer: Ggaliwango Marvin</vt:lpstr>
      <vt:lpstr>Problem Statement</vt:lpstr>
      <vt:lpstr>Project Objectives</vt:lpstr>
      <vt:lpstr>Solution Overview</vt:lpstr>
      <vt:lpstr>Data Used</vt:lpstr>
      <vt:lpstr>PowerPoint Presentation</vt:lpstr>
      <vt:lpstr>PowerPoint Presentation</vt:lpstr>
      <vt:lpstr>Models AND TECHNIQUES</vt:lpstr>
      <vt:lpstr>PowerPoint Presentation</vt:lpstr>
      <vt:lpstr>System Architecture</vt:lpstr>
      <vt:lpstr>Implementation Details</vt:lpstr>
      <vt:lpstr>Results and Evaluation</vt:lpstr>
      <vt:lpstr>Impact &amp; Relevance</vt:lpstr>
      <vt:lpstr>COMPETITIVE ADVANTAGE ANALYSIS</vt:lpstr>
      <vt:lpstr>Monetization &amp; Scaling</vt:lpstr>
      <vt:lpstr>Intellectual Property &amp; Innovation</vt:lpstr>
      <vt:lpstr>System Demonstration</vt:lpstr>
      <vt:lpstr>Team Contributions</vt:lpstr>
      <vt:lpstr>Lessons Learned &amp; Challenges</vt:lpstr>
      <vt:lpstr>Future Work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Ggaliwango Marvin</dc:creator>
  <cp:lastModifiedBy>9th- water-lily</cp:lastModifiedBy>
  <cp:revision>113</cp:revision>
  <dcterms:created xsi:type="dcterms:W3CDTF">2006-08-16T00:00:00Z</dcterms:created>
  <dcterms:modified xsi:type="dcterms:W3CDTF">2025-04-27T09:49:16Z</dcterms:modified>
</cp:coreProperties>
</file>