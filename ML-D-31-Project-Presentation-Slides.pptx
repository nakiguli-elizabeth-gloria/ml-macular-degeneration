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737" r:id="rId1"/>
  </p:sldMasterIdLst>
  <p:notesMasterIdLst>
    <p:notesMasterId r:id="rId26"/>
  </p:notesMasterIdLst>
  <p:sldIdLst>
    <p:sldId id="256" r:id="rId2"/>
    <p:sldId id="257" r:id="rId3"/>
    <p:sldId id="258" r:id="rId4"/>
    <p:sldId id="260" r:id="rId5"/>
    <p:sldId id="308" r:id="rId6"/>
    <p:sldId id="307" r:id="rId7"/>
    <p:sldId id="261" r:id="rId8"/>
    <p:sldId id="270" r:id="rId9"/>
    <p:sldId id="310" r:id="rId10"/>
    <p:sldId id="309" r:id="rId11"/>
    <p:sldId id="281" r:id="rId12"/>
    <p:sldId id="263" r:id="rId13"/>
    <p:sldId id="302" r:id="rId14"/>
    <p:sldId id="301" r:id="rId15"/>
    <p:sldId id="276" r:id="rId16"/>
    <p:sldId id="305" r:id="rId17"/>
    <p:sldId id="295" r:id="rId18"/>
    <p:sldId id="282" r:id="rId19"/>
    <p:sldId id="268" r:id="rId20"/>
    <p:sldId id="266" r:id="rId21"/>
    <p:sldId id="277" r:id="rId22"/>
    <p:sldId id="269" r:id="rId23"/>
    <p:sldId id="267" r:id="rId24"/>
    <p:sldId id="306"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ifX52E/O2vMdvfztXTaB/Ggd8je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5" d="100"/>
          <a:sy n="55" d="100"/>
        </p:scale>
        <p:origin x="1072" y="3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9th- water-lily" userId="1fec161954ba2f4f" providerId="LiveId" clId="{03D8FA77-0436-4D64-A5DA-035E3B73C5A0}"/>
    <pc:docChg chg="modSld">
      <pc:chgData name="9th- water-lily" userId="1fec161954ba2f4f" providerId="LiveId" clId="{03D8FA77-0436-4D64-A5DA-035E3B73C5A0}" dt="2025-04-27T12:34:38.469" v="18" actId="20577"/>
      <pc:docMkLst>
        <pc:docMk/>
      </pc:docMkLst>
      <pc:sldChg chg="modSp mod">
        <pc:chgData name="9th- water-lily" userId="1fec161954ba2f4f" providerId="LiveId" clId="{03D8FA77-0436-4D64-A5DA-035E3B73C5A0}" dt="2025-04-27T12:34:38.469" v="18" actId="20577"/>
        <pc:sldMkLst>
          <pc:docMk/>
          <pc:sldMk cId="0" sldId="266"/>
        </pc:sldMkLst>
        <pc:spChg chg="mod">
          <ac:chgData name="9th- water-lily" userId="1fec161954ba2f4f" providerId="LiveId" clId="{03D8FA77-0436-4D64-A5DA-035E3B73C5A0}" dt="2025-04-27T12:34:38.469" v="18" actId="20577"/>
          <ac:spMkLst>
            <pc:docMk/>
            <pc:sldMk cId="0" sldId="266"/>
            <ac:spMk id="2" creationId="{00000000-0000-0000-0000-000000000000}"/>
          </ac:spMkLst>
        </pc:spChg>
      </pc:sldChg>
      <pc:sldChg chg="modSp mod">
        <pc:chgData name="9th- water-lily" userId="1fec161954ba2f4f" providerId="LiveId" clId="{03D8FA77-0436-4D64-A5DA-035E3B73C5A0}" dt="2025-04-27T09:45:30.422" v="0" actId="12"/>
        <pc:sldMkLst>
          <pc:docMk/>
          <pc:sldMk cId="1896955574" sldId="306"/>
        </pc:sldMkLst>
        <pc:spChg chg="mod">
          <ac:chgData name="9th- water-lily" userId="1fec161954ba2f4f" providerId="LiveId" clId="{03D8FA77-0436-4D64-A5DA-035E3B73C5A0}" dt="2025-04-27T09:45:30.422" v="0" actId="12"/>
          <ac:spMkLst>
            <pc:docMk/>
            <pc:sldMk cId="1896955574" sldId="306"/>
            <ac:spMk id="2" creationId="{F2501127-56AB-5DDD-70F0-409E32B3F68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A75C102A-101A-8601-8F19-85BE0B4A3023}"/>
            </a:ext>
          </a:extLst>
        </p:cNvPr>
        <p:cNvGrpSpPr/>
        <p:nvPr/>
      </p:nvGrpSpPr>
      <p:grpSpPr>
        <a:xfrm>
          <a:off x="0" y="0"/>
          <a:ext cx="0" cy="0"/>
          <a:chOff x="0" y="0"/>
          <a:chExt cx="0" cy="0"/>
        </a:xfrm>
      </p:grpSpPr>
      <p:sp>
        <p:nvSpPr>
          <p:cNvPr id="111" name="Google Shape;111;p4:notes">
            <a:extLst>
              <a:ext uri="{FF2B5EF4-FFF2-40B4-BE49-F238E27FC236}">
                <a16:creationId xmlns:a16="http://schemas.microsoft.com/office/drawing/2014/main" id="{9747C699-813E-6626-E14C-269BE1FC75E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4:notes">
            <a:extLst>
              <a:ext uri="{FF2B5EF4-FFF2-40B4-BE49-F238E27FC236}">
                <a16:creationId xmlns:a16="http://schemas.microsoft.com/office/drawing/2014/main" id="{9553BD32-E204-9720-74E8-750E16A2A5F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373864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E1099A4A-3E70-E2CE-8FDC-8A48FFC97164}"/>
            </a:ext>
          </a:extLst>
        </p:cNvPr>
        <p:cNvGrpSpPr/>
        <p:nvPr/>
      </p:nvGrpSpPr>
      <p:grpSpPr>
        <a:xfrm>
          <a:off x="0" y="0"/>
          <a:ext cx="0" cy="0"/>
          <a:chOff x="0" y="0"/>
          <a:chExt cx="0" cy="0"/>
        </a:xfrm>
      </p:grpSpPr>
      <p:sp>
        <p:nvSpPr>
          <p:cNvPr id="111" name="Google Shape;111;p4:notes">
            <a:extLst>
              <a:ext uri="{FF2B5EF4-FFF2-40B4-BE49-F238E27FC236}">
                <a16:creationId xmlns:a16="http://schemas.microsoft.com/office/drawing/2014/main" id="{2B8FC028-24A3-E481-8AEF-CD69CCD22ED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4:notes">
            <a:extLst>
              <a:ext uri="{FF2B5EF4-FFF2-40B4-BE49-F238E27FC236}">
                <a16:creationId xmlns:a16="http://schemas.microsoft.com/office/drawing/2014/main" id="{F8BB4CED-C7CE-D980-00E3-E5238BDCB89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350704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32061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3A1F9081-23E0-B0A3-14EA-B086E4CFEEA5}"/>
            </a:ext>
          </a:extLst>
        </p:cNvPr>
        <p:cNvGrpSpPr/>
        <p:nvPr/>
      </p:nvGrpSpPr>
      <p:grpSpPr>
        <a:xfrm>
          <a:off x="0" y="0"/>
          <a:ext cx="0" cy="0"/>
          <a:chOff x="0" y="0"/>
          <a:chExt cx="0" cy="0"/>
        </a:xfrm>
      </p:grpSpPr>
      <p:sp>
        <p:nvSpPr>
          <p:cNvPr id="129" name="Google Shape;129;p7:notes">
            <a:extLst>
              <a:ext uri="{FF2B5EF4-FFF2-40B4-BE49-F238E27FC236}">
                <a16:creationId xmlns:a16="http://schemas.microsoft.com/office/drawing/2014/main" id="{C78B2E54-CA26-E2EC-5812-C710DF7378F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p7:notes">
            <a:extLst>
              <a:ext uri="{FF2B5EF4-FFF2-40B4-BE49-F238E27FC236}">
                <a16:creationId xmlns:a16="http://schemas.microsoft.com/office/drawing/2014/main" id="{43269A67-5D67-04F5-D39C-E37F9B3D826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159738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E7C15B42-FB2C-3290-5F11-3E79F10EC3C0}"/>
            </a:ext>
          </a:extLst>
        </p:cNvPr>
        <p:cNvGrpSpPr/>
        <p:nvPr/>
      </p:nvGrpSpPr>
      <p:grpSpPr>
        <a:xfrm>
          <a:off x="0" y="0"/>
          <a:ext cx="0" cy="0"/>
          <a:chOff x="0" y="0"/>
          <a:chExt cx="0" cy="0"/>
        </a:xfrm>
      </p:grpSpPr>
      <p:sp>
        <p:nvSpPr>
          <p:cNvPr id="143" name="Google Shape;143;p9:notes">
            <a:extLst>
              <a:ext uri="{FF2B5EF4-FFF2-40B4-BE49-F238E27FC236}">
                <a16:creationId xmlns:a16="http://schemas.microsoft.com/office/drawing/2014/main" id="{4945017E-E007-B03D-4753-4F8B26F83F4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9:notes">
            <a:extLst>
              <a:ext uri="{FF2B5EF4-FFF2-40B4-BE49-F238E27FC236}">
                <a16:creationId xmlns:a16="http://schemas.microsoft.com/office/drawing/2014/main" id="{F543CB8A-3247-9D41-0ECC-1650C5C920F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52517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8E0509F5-3ED2-1A9F-3179-08CC3ED3DDB0}"/>
            </a:ext>
          </a:extLst>
        </p:cNvPr>
        <p:cNvGrpSpPr/>
        <p:nvPr/>
      </p:nvGrpSpPr>
      <p:grpSpPr>
        <a:xfrm>
          <a:off x="0" y="0"/>
          <a:ext cx="0" cy="0"/>
          <a:chOff x="0" y="0"/>
          <a:chExt cx="0" cy="0"/>
        </a:xfrm>
      </p:grpSpPr>
      <p:sp>
        <p:nvSpPr>
          <p:cNvPr id="143" name="Google Shape;143;p9:notes">
            <a:extLst>
              <a:ext uri="{FF2B5EF4-FFF2-40B4-BE49-F238E27FC236}">
                <a16:creationId xmlns:a16="http://schemas.microsoft.com/office/drawing/2014/main" id="{3B292571-F81F-E691-44B2-91A42E33608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9:notes">
            <a:extLst>
              <a:ext uri="{FF2B5EF4-FFF2-40B4-BE49-F238E27FC236}">
                <a16:creationId xmlns:a16="http://schemas.microsoft.com/office/drawing/2014/main" id="{12D01434-E4C8-F6A3-7528-14EB70FB363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672232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a:extLst>
            <a:ext uri="{FF2B5EF4-FFF2-40B4-BE49-F238E27FC236}">
              <a16:creationId xmlns:a16="http://schemas.microsoft.com/office/drawing/2014/main" id="{C6E56207-F42D-9A31-965D-7B07081BD839}"/>
            </a:ext>
          </a:extLst>
        </p:cNvPr>
        <p:cNvGrpSpPr/>
        <p:nvPr/>
      </p:nvGrpSpPr>
      <p:grpSpPr>
        <a:xfrm>
          <a:off x="0" y="0"/>
          <a:ext cx="0" cy="0"/>
          <a:chOff x="0" y="0"/>
          <a:chExt cx="0" cy="0"/>
        </a:xfrm>
      </p:grpSpPr>
      <p:sp>
        <p:nvSpPr>
          <p:cNvPr id="150" name="Google Shape;150;p10:notes">
            <a:extLst>
              <a:ext uri="{FF2B5EF4-FFF2-40B4-BE49-F238E27FC236}">
                <a16:creationId xmlns:a16="http://schemas.microsoft.com/office/drawing/2014/main" id="{58425DC4-06A9-7D7C-DA2D-7348CE32089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 name="Google Shape;151;p10:notes">
            <a:extLst>
              <a:ext uri="{FF2B5EF4-FFF2-40B4-BE49-F238E27FC236}">
                <a16:creationId xmlns:a16="http://schemas.microsoft.com/office/drawing/2014/main" id="{7964D09D-6DE5-5AE4-BCBD-61B86E378C8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911790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 name="Google Shape;15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740704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3" name="Google Shape;163;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1E7CF1CD-5D03-CC31-F92A-CE443679FB1A}"/>
            </a:ext>
          </a:extLst>
        </p:cNvPr>
        <p:cNvGrpSpPr/>
        <p:nvPr/>
      </p:nvGrpSpPr>
      <p:grpSpPr>
        <a:xfrm>
          <a:off x="0" y="0"/>
          <a:ext cx="0" cy="0"/>
          <a:chOff x="0" y="0"/>
          <a:chExt cx="0" cy="0"/>
        </a:xfrm>
      </p:grpSpPr>
      <p:sp>
        <p:nvSpPr>
          <p:cNvPr id="162" name="Google Shape;162;p12:notes">
            <a:extLst>
              <a:ext uri="{FF2B5EF4-FFF2-40B4-BE49-F238E27FC236}">
                <a16:creationId xmlns:a16="http://schemas.microsoft.com/office/drawing/2014/main" id="{F831939E-B207-2407-6DC2-84AAB68ECBA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3" name="Google Shape;163;p12:notes">
            <a:extLst>
              <a:ext uri="{FF2B5EF4-FFF2-40B4-BE49-F238E27FC236}">
                <a16:creationId xmlns:a16="http://schemas.microsoft.com/office/drawing/2014/main" id="{2C678C69-385F-C35B-7342-D8E90B4C9A3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5379631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1"/>
            <a:ext cx="12192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0000"/>
                    <a:lumOff val="10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C9FBD9A6-F4F7-4C81-8C3B-C6430A865157}" type="datetimeFigureOut">
              <a:rPr lang="en-US" smtClean="0"/>
              <a:t>4/27/2025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a:t>1</a:t>
            </a:r>
            <a:fld id="{00000000-1234-1234-1234-123412341234}" type="slidenum">
              <a:rPr lang="en-US" smtClean="0"/>
              <a:pPr/>
              <a:t>‹#›</a:t>
            </a:fld>
            <a:endParaRPr/>
          </a:p>
        </p:txBody>
      </p:sp>
      <p:cxnSp>
        <p:nvCxnSpPr>
          <p:cNvPr id="8" name="Straight Connector 7"/>
          <p:cNvCxnSpPr/>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026" name="Picture 2" descr="Makerere University College of Computing &amp; Information Sciences (CoCIS)">
            <a:extLst>
              <a:ext uri="{FF2B5EF4-FFF2-40B4-BE49-F238E27FC236}">
                <a16:creationId xmlns:a16="http://schemas.microsoft.com/office/drawing/2014/main" id="{63364D16-397A-A16E-95C8-EFCBAB66D86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795" y="-12360"/>
            <a:ext cx="1793633" cy="35872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Makerere University - data.org">
            <a:extLst>
              <a:ext uri="{FF2B5EF4-FFF2-40B4-BE49-F238E27FC236}">
                <a16:creationId xmlns:a16="http://schemas.microsoft.com/office/drawing/2014/main" id="{F80BC8B0-28EA-762F-0D7A-5B6334F51B2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1469756" y="10553"/>
            <a:ext cx="704660" cy="6002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72305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FBD9A6-F4F7-4C81-8C3B-C6430A865157}" type="datetimeFigureOut">
              <a:rPr lang="en-US" smtClean="0"/>
              <a:t>4/27/2025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28C338-E682-4B46-9632-D57B5813D090}" type="slidenum">
              <a:rPr lang="en-US" smtClean="0"/>
              <a:t>‹#›</a:t>
            </a:fld>
            <a:endParaRPr lang="en-US"/>
          </a:p>
        </p:txBody>
      </p:sp>
      <p:pic>
        <p:nvPicPr>
          <p:cNvPr id="7" name="Picture 2" descr="Makerere University College of Computing &amp; Information Sciences (CoCIS)">
            <a:extLst>
              <a:ext uri="{FF2B5EF4-FFF2-40B4-BE49-F238E27FC236}">
                <a16:creationId xmlns:a16="http://schemas.microsoft.com/office/drawing/2014/main" id="{4F89D84E-2BC7-4D37-DB09-CC9EC19BEC8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795" y="-12360"/>
            <a:ext cx="1793633" cy="3587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69002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1"/>
            <a:ext cx="12192000" cy="45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0000"/>
                    <a:lumOff val="1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FBD9A6-F4F7-4C81-8C3B-C6430A865157}" type="datetimeFigureOut">
              <a:rPr lang="en-US" smtClean="0"/>
              <a:t>4/27/2025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a:p>
        </p:txBody>
      </p:sp>
      <p:cxnSp>
        <p:nvCxnSpPr>
          <p:cNvPr id="8" name="Straight Connector 7"/>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pic>
        <p:nvPicPr>
          <p:cNvPr id="9" name="Picture 2" descr="Makerere University College of Computing &amp; Information Sciences (CoCIS)">
            <a:extLst>
              <a:ext uri="{FF2B5EF4-FFF2-40B4-BE49-F238E27FC236}">
                <a16:creationId xmlns:a16="http://schemas.microsoft.com/office/drawing/2014/main" id="{B178440F-7742-4EF6-4D36-FA77822320E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795" y="-12360"/>
            <a:ext cx="1793633" cy="358727"/>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Makerere University - data.org">
            <a:extLst>
              <a:ext uri="{FF2B5EF4-FFF2-40B4-BE49-F238E27FC236}">
                <a16:creationId xmlns:a16="http://schemas.microsoft.com/office/drawing/2014/main" id="{DFFA85FC-D464-4A1E-D99E-06ECBF3D5E8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1469756" y="10553"/>
            <a:ext cx="704660" cy="6002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00430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8"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9FBD9A6-F4F7-4C81-8C3B-C6430A865157}" type="datetimeFigureOut">
              <a:rPr lang="en-US" smtClean="0"/>
              <a:t>4/27/2025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a:p>
        </p:txBody>
      </p:sp>
      <p:pic>
        <p:nvPicPr>
          <p:cNvPr id="8" name="Picture 2" descr="Makerere University College of Computing &amp; Information Sciences (CoCIS)">
            <a:extLst>
              <a:ext uri="{FF2B5EF4-FFF2-40B4-BE49-F238E27FC236}">
                <a16:creationId xmlns:a16="http://schemas.microsoft.com/office/drawing/2014/main" id="{DB6798A6-D4E5-DDF7-CD1E-636FF70362D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795" y="-12360"/>
            <a:ext cx="1793633" cy="3587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86407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2">
                    <a:lumMod val="75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lIns="45720" rIns="4572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89320"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2">
                    <a:lumMod val="75000"/>
                  </a:schemeClr>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89320" y="2967788"/>
            <a:ext cx="4754880" cy="3341572"/>
          </a:xfrm>
        </p:spPr>
        <p:txBody>
          <a:bodyPr lIns="45720" rIns="4572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9FBD9A6-F4F7-4C81-8C3B-C6430A865157}" type="datetimeFigureOut">
              <a:rPr lang="en-US" smtClean="0"/>
              <a:t>4/27/2025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000000-1234-1234-1234-123412341234}" type="slidenum">
              <a:rPr lang="en-US" smtClean="0"/>
              <a:pPr/>
              <a:t>‹#›</a:t>
            </a:fld>
            <a:endParaRPr lang="en-US"/>
          </a:p>
        </p:txBody>
      </p:sp>
      <p:pic>
        <p:nvPicPr>
          <p:cNvPr id="2" name="Picture 2" descr="Makerere University College of Computing &amp; Information Sciences (CoCIS)">
            <a:extLst>
              <a:ext uri="{FF2B5EF4-FFF2-40B4-BE49-F238E27FC236}">
                <a16:creationId xmlns:a16="http://schemas.microsoft.com/office/drawing/2014/main" id="{E2D8642E-3B24-38FE-1A15-7D064D01102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795" y="-12360"/>
            <a:ext cx="1793633" cy="3587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24106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9FBD9A6-F4F7-4C81-8C3B-C6430A865157}" type="datetimeFigureOut">
              <a:rPr lang="en-US" smtClean="0"/>
              <a:t>4/27/2025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000000-1234-1234-1234-123412341234}" type="slidenum">
              <a:rPr lang="en-US" smtClean="0"/>
              <a:pPr/>
              <a:t>‹#›</a:t>
            </a:fld>
            <a:endParaRPr lang="en-US"/>
          </a:p>
        </p:txBody>
      </p:sp>
      <p:pic>
        <p:nvPicPr>
          <p:cNvPr id="6" name="Picture 2" descr="Makerere University College of Computing &amp; Information Sciences (CoCIS)">
            <a:extLst>
              <a:ext uri="{FF2B5EF4-FFF2-40B4-BE49-F238E27FC236}">
                <a16:creationId xmlns:a16="http://schemas.microsoft.com/office/drawing/2014/main" id="{AAEE5B36-4AC6-34D0-3EE3-75ECA02E60C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795" y="-12360"/>
            <a:ext cx="1793633" cy="3587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51248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FBD9A6-F4F7-4C81-8C3B-C6430A865157}" type="datetimeFigureOut">
              <a:rPr lang="en-US" smtClean="0"/>
              <a:t>4/27/2025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0000000-1234-1234-1234-123412341234}" type="slidenum">
              <a:rPr lang="en-US" smtClean="0"/>
              <a:pPr/>
              <a:t>‹#›</a:t>
            </a:fld>
            <a:endParaRPr lang="en-US"/>
          </a:p>
        </p:txBody>
      </p:sp>
      <p:pic>
        <p:nvPicPr>
          <p:cNvPr id="5" name="Picture 2" descr="Makerere University College of Computing &amp; Information Sciences (CoCIS)">
            <a:extLst>
              <a:ext uri="{FF2B5EF4-FFF2-40B4-BE49-F238E27FC236}">
                <a16:creationId xmlns:a16="http://schemas.microsoft.com/office/drawing/2014/main" id="{5DFE70A8-8DEC-E1E0-0F80-3CC5E4283A6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795" y="-12360"/>
            <a:ext cx="1793633" cy="3587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92584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FBD9A6-F4F7-4C81-8C3B-C6430A865157}" type="datetimeFigureOut">
              <a:rPr lang="en-US" smtClean="0"/>
              <a:t>4/27/2025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a:p>
        </p:txBody>
      </p:sp>
      <p:pic>
        <p:nvPicPr>
          <p:cNvPr id="2" name="Picture 2" descr="Makerere University College of Computing &amp; Information Sciences (CoCIS)">
            <a:extLst>
              <a:ext uri="{FF2B5EF4-FFF2-40B4-BE49-F238E27FC236}">
                <a16:creationId xmlns:a16="http://schemas.microsoft.com/office/drawing/2014/main" id="{8D6953CF-067D-E709-05F8-F0DD3D17A866}"/>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795" y="-12360"/>
            <a:ext cx="1793633" cy="3587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56772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2">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0000"/>
                    <a:lumOff val="1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9FBD9A6-F4F7-4C81-8C3B-C6430A865157}" type="datetimeFigureOut">
              <a:rPr lang="en-US" smtClean="0"/>
              <a:t>4/27/2025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a:p>
        </p:txBody>
      </p:sp>
      <p:cxnSp>
        <p:nvCxnSpPr>
          <p:cNvPr id="9" name="Straight Connector 8"/>
          <p:cNvCxnSpPr/>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8" name="Picture 2" descr="Makerere University College of Computing &amp; Information Sciences (CoCIS)">
            <a:extLst>
              <a:ext uri="{FF2B5EF4-FFF2-40B4-BE49-F238E27FC236}">
                <a16:creationId xmlns:a16="http://schemas.microsoft.com/office/drawing/2014/main" id="{F0389045-4EC2-D8FE-3AD1-AB97C511A5F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795" y="-12360"/>
            <a:ext cx="1793633" cy="3587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5766643"/>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FBD9A6-F4F7-4C81-8C3B-C6430A865157}" type="datetimeFigureOut">
              <a:rPr lang="en-US" smtClean="0"/>
              <a:t>4/27/2025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a:p>
        </p:txBody>
      </p:sp>
      <p:pic>
        <p:nvPicPr>
          <p:cNvPr id="7" name="Picture 2" descr="Makerere University College of Computing &amp; Information Sciences (CoCIS)">
            <a:extLst>
              <a:ext uri="{FF2B5EF4-FFF2-40B4-BE49-F238E27FC236}">
                <a16:creationId xmlns:a16="http://schemas.microsoft.com/office/drawing/2014/main" id="{E3D776D8-4C08-7E05-5A99-451839D024E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795" y="-12360"/>
            <a:ext cx="1793633" cy="3587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47753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0"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FBD9A6-F4F7-4C81-8C3B-C6430A865157}" type="datetimeFigureOut">
              <a:rPr lang="en-US" smtClean="0"/>
              <a:t>4/27/2025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8" name="Picture 2" descr="Makerere University College of Computing &amp; Information Sciences (CoCIS)">
            <a:extLst>
              <a:ext uri="{FF2B5EF4-FFF2-40B4-BE49-F238E27FC236}">
                <a16:creationId xmlns:a16="http://schemas.microsoft.com/office/drawing/2014/main" id="{EAAD6571-8582-73A0-E399-4E24B7F44EC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795" y="-12360"/>
            <a:ext cx="1793633" cy="3587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22835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1"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8" y="6470704"/>
            <a:ext cx="2154142" cy="274320"/>
          </a:xfrm>
          <a:prstGeom prst="rect">
            <a:avLst/>
          </a:prstGeom>
        </p:spPr>
        <p:txBody>
          <a:bodyPr vert="horz" lIns="91440" tIns="45720" rIns="91440" bIns="45720" rtlCol="0" anchor="ctr"/>
          <a:lstStyle>
            <a:lvl1pPr algn="l">
              <a:defRPr sz="1000">
                <a:solidFill>
                  <a:schemeClr val="tx1">
                    <a:lumMod val="90000"/>
                    <a:lumOff val="10000"/>
                  </a:schemeClr>
                </a:solidFill>
                <a:latin typeface="+mj-lt"/>
              </a:defRPr>
            </a:lvl1pPr>
          </a:lstStyle>
          <a:p>
            <a:fld id="{C9FBD9A6-F4F7-4C81-8C3B-C6430A865157}" type="datetimeFigureOut">
              <a:rPr lang="en-US" smtClean="0"/>
              <a:t>4/27/2025</a:t>
            </a:fld>
            <a:endParaRPr lang="en-US"/>
          </a:p>
        </p:txBody>
      </p:sp>
      <p:sp>
        <p:nvSpPr>
          <p:cNvPr id="5" name="Footer Placeholder 4"/>
          <p:cNvSpPr>
            <a:spLocks noGrp="1"/>
          </p:cNvSpPr>
          <p:nvPr>
            <p:ph type="ftr" sz="quarter" idx="3"/>
          </p:nvPr>
        </p:nvSpPr>
        <p:spPr>
          <a:xfrm>
            <a:off x="4842932" y="6470704"/>
            <a:ext cx="5901458" cy="274320"/>
          </a:xfrm>
          <a:prstGeom prst="rect">
            <a:avLst/>
          </a:prstGeom>
        </p:spPr>
        <p:txBody>
          <a:bodyPr vert="horz" lIns="91440" tIns="45720" rIns="91440" bIns="45720" rtlCol="0" anchor="ctr"/>
          <a:lstStyle>
            <a:lvl1pPr algn="r">
              <a:defRPr sz="1000" cap="all" baseline="0">
                <a:solidFill>
                  <a:schemeClr val="tx1">
                    <a:lumMod val="90000"/>
                    <a:lumOff val="10000"/>
                  </a:schemeClr>
                </a:solidFill>
                <a:latin typeface="+mj-lt"/>
              </a:defRPr>
            </a:lvl1pPr>
          </a:lstStyle>
          <a:p>
            <a:endParaRPr lang="en-US"/>
          </a:p>
        </p:txBody>
      </p:sp>
      <p:sp>
        <p:nvSpPr>
          <p:cNvPr id="6" name="Slide Number Placeholder 5"/>
          <p:cNvSpPr>
            <a:spLocks noGrp="1"/>
          </p:cNvSpPr>
          <p:nvPr>
            <p:ph type="sldNum" sz="quarter" idx="4"/>
          </p:nvPr>
        </p:nvSpPr>
        <p:spPr>
          <a:xfrm>
            <a:off x="10837334" y="6470704"/>
            <a:ext cx="973666" cy="274320"/>
          </a:xfrm>
          <a:prstGeom prst="rect">
            <a:avLst/>
          </a:prstGeom>
        </p:spPr>
        <p:txBody>
          <a:bodyPr vert="horz" lIns="91440" tIns="45720" rIns="91440" bIns="45720" rtlCol="0" anchor="ctr"/>
          <a:lstStyle>
            <a:lvl1pPr algn="l">
              <a:defRPr sz="1000">
                <a:solidFill>
                  <a:schemeClr val="tx1">
                    <a:lumMod val="90000"/>
                    <a:lumOff val="10000"/>
                  </a:schemeClr>
                </a:solidFill>
                <a:latin typeface="+mj-lt"/>
              </a:defRPr>
            </a:lvl1pPr>
          </a:lstStyle>
          <a:p>
            <a:fld id="{00000000-1234-1234-1234-123412341234}" type="slidenum">
              <a:rPr lang="en-US" smtClean="0"/>
              <a:pPr/>
              <a:t>‹#›</a:t>
            </a:fld>
            <a:endParaRPr lang="en-US"/>
          </a:p>
        </p:txBody>
      </p:sp>
      <p:cxnSp>
        <p:nvCxnSpPr>
          <p:cNvPr id="7" name="Straight Connector 6"/>
          <p:cNvCxnSpPr/>
          <p:nvPr/>
        </p:nvCxnSpPr>
        <p:spPr>
          <a:xfrm flipV="1">
            <a:off x="7620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2050" name="Picture 2" descr="Makerere University - data.org">
            <a:extLst>
              <a:ext uri="{FF2B5EF4-FFF2-40B4-BE49-F238E27FC236}">
                <a16:creationId xmlns:a16="http://schemas.microsoft.com/office/drawing/2014/main" id="{DE1A894A-8052-B57C-2DF3-1C78D4ABAFB1}"/>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1469756" y="10553"/>
            <a:ext cx="704660" cy="60026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Makerere University College of Computing &amp; Information Sciences (CoCIS)">
            <a:extLst>
              <a:ext uri="{FF2B5EF4-FFF2-40B4-BE49-F238E27FC236}">
                <a16:creationId xmlns:a16="http://schemas.microsoft.com/office/drawing/2014/main" id="{67475E0E-31FE-D872-A2E6-0821144EF9CA}"/>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8795" y="-12360"/>
            <a:ext cx="1793633" cy="3587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9829056"/>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Lst>
  <p:hf hdr="0" ftr="0" dt="0"/>
  <p:txStyles>
    <p:titleStyle>
      <a:lvl1pPr algn="l" defTabSz="914400" rtl="0" eaLnBrk="1" latinLnBrk="0" hangingPunct="1">
        <a:lnSpc>
          <a:spcPct val="80000"/>
        </a:lnSpc>
        <a:spcBef>
          <a:spcPct val="0"/>
        </a:spcBef>
        <a:buNone/>
        <a:defRPr sz="5000" kern="1200" cap="all" spc="100" baseline="0">
          <a:solidFill>
            <a:schemeClr val="tx1">
              <a:lumMod val="90000"/>
              <a:lumOff val="10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fi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jpe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
          <p:cNvSpPr/>
          <p:nvPr/>
        </p:nvSpPr>
        <p:spPr>
          <a:xfrm>
            <a:off x="475861" y="813320"/>
            <a:ext cx="10235681" cy="2954615"/>
          </a:xfrm>
          <a:prstGeom prst="rect">
            <a:avLst/>
          </a:prstGeom>
          <a:noFill/>
          <a:ln>
            <a:noFill/>
          </a:ln>
        </p:spPr>
        <p:txBody>
          <a:bodyPr spcFirstLastPara="1" wrap="square" lIns="91425" tIns="45700" rIns="91425" bIns="45700" anchor="t" anchorCtr="0">
            <a:spAutoFit/>
          </a:bodyPr>
          <a:lstStyle/>
          <a:p>
            <a:pPr algn="ctr"/>
            <a:r>
              <a:rPr lang="en-US" sz="2800" b="1" dirty="0">
                <a:solidFill>
                  <a:schemeClr val="dk1"/>
                </a:solidFill>
              </a:rPr>
              <a:t>GRAPH ATTENTION MECHANISMS FOR MACULAR DEGENERATION DISEASE DIAGNOSIS USING SELF-ROUTING CAPSULE KNOWLEDGE DISTILLATION</a:t>
            </a:r>
          </a:p>
          <a:p>
            <a:pPr algn="ctr"/>
            <a:r>
              <a:rPr lang="en-US" sz="3600" b="1" i="1" dirty="0">
                <a:solidFill>
                  <a:schemeClr val="dk1"/>
                </a:solidFill>
              </a:rPr>
              <a:t>OcuMed</a:t>
            </a:r>
          </a:p>
          <a:p>
            <a:pPr algn="ctr"/>
            <a:r>
              <a:rPr lang="en-US" sz="3600" b="1" i="1" dirty="0">
                <a:solidFill>
                  <a:schemeClr val="dk1"/>
                </a:solidFill>
              </a:rPr>
              <a:t>Project Code: ML-D-31</a:t>
            </a:r>
            <a:endParaRPr lang="en-US" sz="3600" i="1" dirty="0">
              <a:solidFill>
                <a:schemeClr val="dk1"/>
              </a:solidFill>
            </a:endParaRPr>
          </a:p>
          <a:p>
            <a:pPr algn="ctr"/>
            <a:endParaRPr lang="en-US" sz="3000" b="1" dirty="0">
              <a:solidFill>
                <a:schemeClr val="dk1"/>
              </a:solidFill>
            </a:endParaRPr>
          </a:p>
        </p:txBody>
      </p:sp>
      <p:sp>
        <p:nvSpPr>
          <p:cNvPr id="96" name="Google Shape;96;p1"/>
          <p:cNvSpPr/>
          <p:nvPr/>
        </p:nvSpPr>
        <p:spPr>
          <a:xfrm>
            <a:off x="253481" y="5077082"/>
            <a:ext cx="9181323" cy="923289"/>
          </a:xfrm>
          <a:prstGeom prst="rect">
            <a:avLst/>
          </a:prstGeom>
          <a:noFill/>
          <a:ln>
            <a:noFill/>
          </a:ln>
        </p:spPr>
        <p:txBody>
          <a:bodyPr spcFirstLastPara="1" wrap="square" lIns="91425" tIns="45700" rIns="91425" bIns="45700" anchor="t" anchorCtr="0">
            <a:spAutoFit/>
          </a:bodyPr>
          <a:lstStyle/>
          <a:p>
            <a:r>
              <a:rPr lang="en-US" b="1" dirty="0">
                <a:solidFill>
                  <a:schemeClr val="dk1"/>
                </a:solidFill>
                <a:latin typeface="Calibri"/>
                <a:ea typeface="Calibri"/>
                <a:cs typeface="Calibri"/>
                <a:sym typeface="Calibri"/>
              </a:rPr>
              <a:t>Team Members: </a:t>
            </a:r>
            <a:endParaRPr lang="en-US" b="1" dirty="0">
              <a:solidFill>
                <a:srgbClr val="FF0000"/>
              </a:solidFill>
              <a:latin typeface="Calibri"/>
              <a:ea typeface="Calibri"/>
              <a:cs typeface="Calibri"/>
              <a:sym typeface="Calibri"/>
            </a:endParaRPr>
          </a:p>
          <a:p>
            <a:r>
              <a:rPr lang="en-US" dirty="0">
                <a:latin typeface="Calibri"/>
                <a:ea typeface="Calibri"/>
                <a:cs typeface="Calibri"/>
                <a:sym typeface="Calibri"/>
              </a:rPr>
              <a:t>1) </a:t>
            </a:r>
            <a:r>
              <a:rPr lang="en-GB" dirty="0"/>
              <a:t>ABONYO MITCHELL NINA   23/U/0095</a:t>
            </a:r>
          </a:p>
          <a:p>
            <a:r>
              <a:rPr lang="en-GB" dirty="0"/>
              <a:t>2) NAKIGULI ELIZABETH GLORIA   23/U/13736/PS</a:t>
            </a:r>
          </a:p>
        </p:txBody>
      </p:sp>
      <p:sp>
        <p:nvSpPr>
          <p:cNvPr id="2" name="Google Shape;121;p5">
            <a:extLst>
              <a:ext uri="{FF2B5EF4-FFF2-40B4-BE49-F238E27FC236}">
                <a16:creationId xmlns:a16="http://schemas.microsoft.com/office/drawing/2014/main" id="{6EA1F570-75BF-68FA-21E1-DC25188BADCD}"/>
              </a:ext>
            </a:extLst>
          </p:cNvPr>
          <p:cNvSpPr txBox="1">
            <a:spLocks/>
          </p:cNvSpPr>
          <p:nvPr/>
        </p:nvSpPr>
        <p:spPr>
          <a:xfrm>
            <a:off x="730898" y="3474479"/>
            <a:ext cx="10730204" cy="605935"/>
          </a:xfrm>
          <a:prstGeom prst="rect">
            <a:avLst/>
          </a:prstGeom>
          <a:noFill/>
          <a:ln>
            <a:noFill/>
          </a:ln>
        </p:spPr>
        <p:txBody>
          <a:bodyPr spcFirstLastPara="1" vert="horz" wrap="square" lIns="91425" tIns="45700" rIns="91425" bIns="45700" rtlCol="0" anchor="t" anchorCtr="0">
            <a:normAutofit fontScale="92500" lnSpcReduction="10000"/>
          </a:bodyPr>
          <a:lstStyle>
            <a:lvl1pPr marL="0" indent="0" algn="l" defTabSz="914400" rtl="0" eaLnBrk="1" latinLnBrk="0" hangingPunct="1">
              <a:lnSpc>
                <a:spcPct val="100000"/>
              </a:lnSpc>
              <a:spcBef>
                <a:spcPts val="0"/>
              </a:spcBef>
              <a:spcAft>
                <a:spcPts val="200"/>
              </a:spcAft>
              <a:buClr>
                <a:schemeClr val="accent2"/>
              </a:buClr>
              <a:buSzPct val="100000"/>
              <a:buFont typeface="Tw Cen MT" panose="020B0602020104020603" pitchFamily="34" charset="0"/>
              <a:buNone/>
              <a:defRPr sz="1800" kern="1200">
                <a:solidFill>
                  <a:schemeClr val="tx1">
                    <a:lumMod val="90000"/>
                    <a:lumOff val="10000"/>
                  </a:schemeClr>
                </a:solidFill>
                <a:latin typeface="+mn-lt"/>
                <a:ea typeface="+mn-ea"/>
                <a:cs typeface="+mn-cs"/>
              </a:defRPr>
            </a:lvl1pPr>
            <a:lvl2pPr marL="457200" indent="0" algn="ctr" defTabSz="914400" rtl="0" eaLnBrk="1" latinLnBrk="0" hangingPunct="1">
              <a:lnSpc>
                <a:spcPct val="90000"/>
              </a:lnSpc>
              <a:spcBef>
                <a:spcPts val="200"/>
              </a:spcBef>
              <a:spcAft>
                <a:spcPts val="400"/>
              </a:spcAft>
              <a:buClr>
                <a:schemeClr val="accent2"/>
              </a:buClr>
              <a:buFont typeface="Wingdings 3" pitchFamily="18" charset="2"/>
              <a:buNone/>
              <a:defRPr sz="1800" kern="1200">
                <a:solidFill>
                  <a:schemeClr val="tx1"/>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2"/>
              </a:buClr>
              <a:buFont typeface="Wingdings 3" pitchFamily="18" charset="2"/>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2"/>
              </a:buClr>
              <a:buFont typeface="Wingdings 3" pitchFamily="18" charset="2"/>
              <a:buNone/>
              <a:defRPr sz="1800" kern="1200">
                <a:solidFill>
                  <a:schemeClr val="tx1"/>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2"/>
              </a:buClr>
              <a:buFont typeface="Wingdings 3" pitchFamily="18" charset="2"/>
              <a:buNone/>
              <a:defRPr sz="1800" kern="1200">
                <a:solidFill>
                  <a:schemeClr val="tx1"/>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2"/>
              </a:buClr>
              <a:buFont typeface="Wingdings 3" pitchFamily="18" charset="2"/>
              <a:buNone/>
              <a:defRPr sz="1800" kern="1200">
                <a:solidFill>
                  <a:schemeClr val="tx1"/>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2"/>
              </a:buClr>
              <a:buFont typeface="Wingdings 3" pitchFamily="18" charset="2"/>
              <a:buNone/>
              <a:defRPr sz="1800" kern="1200">
                <a:solidFill>
                  <a:schemeClr val="tx1"/>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2"/>
              </a:buClr>
              <a:buFont typeface="Wingdings 3" pitchFamily="18" charset="2"/>
              <a:buNone/>
              <a:defRPr sz="1800" kern="1200">
                <a:solidFill>
                  <a:schemeClr val="tx1"/>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2"/>
              </a:buClr>
              <a:buFont typeface="Wingdings 3" pitchFamily="18" charset="2"/>
              <a:buNone/>
              <a:defRPr sz="1800" kern="1200">
                <a:solidFill>
                  <a:schemeClr val="tx1"/>
                </a:solidFill>
                <a:latin typeface="+mn-lt"/>
                <a:ea typeface="+mn-ea"/>
                <a:cs typeface="+mn-cs"/>
              </a:defRPr>
            </a:lvl9pPr>
          </a:lstStyle>
          <a:p>
            <a:pPr marL="342900" indent="-342900"/>
            <a:r>
              <a:rPr lang="en-US" b="1" dirty="0"/>
              <a:t>Keywords</a:t>
            </a:r>
            <a:r>
              <a:rPr lang="en-US" dirty="0"/>
              <a:t>: </a:t>
            </a:r>
            <a:r>
              <a:rPr lang="en-GB" dirty="0"/>
              <a:t>Age-Related Macular Degeneration, Optical Coherence Tomography, Graph Attention Networks, Capsule Networks, Knowledge Distillation, Vision Transformers</a:t>
            </a:r>
            <a:r>
              <a:rPr lang="en-US" dirty="0"/>
              <a:t> </a:t>
            </a:r>
          </a:p>
        </p:txBody>
      </p:sp>
      <p:sp>
        <p:nvSpPr>
          <p:cNvPr id="3" name="Title 1">
            <a:extLst>
              <a:ext uri="{FF2B5EF4-FFF2-40B4-BE49-F238E27FC236}">
                <a16:creationId xmlns:a16="http://schemas.microsoft.com/office/drawing/2014/main" id="{8ED683EB-6024-505F-211D-A2CCE7F81E62}"/>
              </a:ext>
            </a:extLst>
          </p:cNvPr>
          <p:cNvSpPr>
            <a:spLocks noGrp="1"/>
          </p:cNvSpPr>
          <p:nvPr>
            <p:ph type="ctrTitle"/>
          </p:nvPr>
        </p:nvSpPr>
        <p:spPr>
          <a:xfrm>
            <a:off x="8378890" y="4938141"/>
            <a:ext cx="3741575" cy="1463040"/>
          </a:xfrm>
        </p:spPr>
        <p:txBody>
          <a:bodyPr>
            <a:normAutofit fontScale="90000"/>
          </a:bodyPr>
          <a:lstStyle/>
          <a:p>
            <a:r>
              <a:rPr lang="en-US" sz="2800" dirty="0"/>
              <a:t>Department of Computer Science, COCIS</a:t>
            </a:r>
            <a:br>
              <a:rPr lang="en-US" sz="2800" dirty="0"/>
            </a:br>
            <a:r>
              <a:rPr lang="en-US" sz="2800" dirty="0"/>
              <a:t>Makerere University</a:t>
            </a:r>
            <a:br>
              <a:rPr lang="en-US" sz="2800" dirty="0"/>
            </a:br>
            <a:r>
              <a:rPr lang="en-US" sz="2800" dirty="0"/>
              <a:t>Lecturer: Ggaliwango Marvin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
          <p:cNvSpPr txBox="1">
            <a:spLocks noGrp="1"/>
          </p:cNvSpPr>
          <p:nvPr>
            <p:ph type="title"/>
          </p:nvPr>
        </p:nvSpPr>
        <p:spPr>
          <a:xfrm>
            <a:off x="1981200" y="381000"/>
            <a:ext cx="8077200" cy="370042"/>
          </a:xfrm>
          <a:prstGeom prst="rect">
            <a:avLst/>
          </a:prstGeom>
          <a:noFill/>
          <a:ln>
            <a:noFill/>
          </a:ln>
        </p:spPr>
        <p:txBody>
          <a:bodyPr spcFirstLastPara="1" wrap="square" lIns="91425" tIns="45700" rIns="91425" bIns="45700" anchor="ctr" anchorCtr="0">
            <a:normAutofit fontScale="90000"/>
          </a:bodyPr>
          <a:lstStyle/>
          <a:p>
            <a:pPr>
              <a:buSzPct val="100000"/>
            </a:pPr>
            <a:r>
              <a:rPr lang="en-US" dirty="0"/>
              <a:t>Contents of Presentation</a:t>
            </a:r>
            <a:endParaRPr dirty="0"/>
          </a:p>
        </p:txBody>
      </p:sp>
      <p:sp>
        <p:nvSpPr>
          <p:cNvPr id="103" name="Google Shape;103;p2"/>
          <p:cNvSpPr txBox="1">
            <a:spLocks noGrp="1"/>
          </p:cNvSpPr>
          <p:nvPr>
            <p:ph idx="1"/>
          </p:nvPr>
        </p:nvSpPr>
        <p:spPr>
          <a:xfrm>
            <a:off x="737119" y="865342"/>
            <a:ext cx="11019453" cy="5127315"/>
          </a:xfrm>
          <a:prstGeom prst="rect">
            <a:avLst/>
          </a:prstGeom>
          <a:noFill/>
          <a:ln>
            <a:noFill/>
          </a:ln>
        </p:spPr>
        <p:txBody>
          <a:bodyPr spcFirstLastPara="1" wrap="square" lIns="91425" tIns="45700" rIns="91425" bIns="45700" anchor="t" anchorCtr="0">
            <a:noAutofit/>
          </a:bodyPr>
          <a:lstStyle/>
          <a:p>
            <a:pPr marL="342900" indent="-342931">
              <a:spcBef>
                <a:spcPts val="0"/>
              </a:spcBef>
              <a:buSzPct val="100000"/>
            </a:pPr>
            <a:r>
              <a:rPr lang="en-US" sz="2000" dirty="0"/>
              <a:t>Background and Introduction</a:t>
            </a:r>
            <a:endParaRPr sz="2000" dirty="0"/>
          </a:p>
          <a:p>
            <a:pPr marL="342900" indent="-342931">
              <a:spcBef>
                <a:spcPts val="536"/>
              </a:spcBef>
              <a:buSzPct val="100000"/>
            </a:pPr>
            <a:r>
              <a:rPr lang="en-US" sz="2000" dirty="0"/>
              <a:t>Related work</a:t>
            </a:r>
          </a:p>
          <a:p>
            <a:pPr marL="342900" indent="-342931">
              <a:spcBef>
                <a:spcPts val="536"/>
              </a:spcBef>
              <a:buSzPct val="100000"/>
            </a:pPr>
            <a:r>
              <a:rPr lang="en-US" sz="2000" dirty="0"/>
              <a:t>Problem Statement </a:t>
            </a:r>
          </a:p>
          <a:p>
            <a:pPr marL="342900" indent="-342931">
              <a:spcBef>
                <a:spcPts val="536"/>
              </a:spcBef>
              <a:buSzPct val="100000"/>
            </a:pPr>
            <a:r>
              <a:rPr lang="en-US" sz="2000" dirty="0"/>
              <a:t>Research Questions and Objectives</a:t>
            </a:r>
            <a:endParaRPr sz="2000" dirty="0"/>
          </a:p>
          <a:p>
            <a:pPr marL="342900" indent="-342931">
              <a:spcBef>
                <a:spcPts val="536"/>
              </a:spcBef>
              <a:buSzPct val="100000"/>
            </a:pPr>
            <a:r>
              <a:rPr lang="en-US" sz="2000" dirty="0"/>
              <a:t>Research Contributions</a:t>
            </a:r>
            <a:endParaRPr sz="2000" dirty="0"/>
          </a:p>
          <a:p>
            <a:pPr marL="342900" indent="-342931">
              <a:spcBef>
                <a:spcPts val="536"/>
              </a:spcBef>
              <a:buSzPct val="100000"/>
            </a:pPr>
            <a:r>
              <a:rPr lang="en-US" sz="2000" dirty="0"/>
              <a:t>Methodology </a:t>
            </a:r>
          </a:p>
          <a:p>
            <a:pPr marL="342900" indent="-342931">
              <a:spcBef>
                <a:spcPts val="536"/>
              </a:spcBef>
              <a:buSzPct val="100000"/>
            </a:pPr>
            <a:r>
              <a:rPr lang="en-US" sz="2000" dirty="0"/>
              <a:t>System Architecture</a:t>
            </a:r>
          </a:p>
          <a:p>
            <a:pPr marL="342900" indent="-342931">
              <a:spcBef>
                <a:spcPts val="536"/>
              </a:spcBef>
              <a:buSzPct val="100000"/>
            </a:pPr>
            <a:r>
              <a:rPr lang="en-US" sz="2000" dirty="0"/>
              <a:t>Dataset Description </a:t>
            </a:r>
          </a:p>
          <a:p>
            <a:pPr marL="342900" indent="-342931">
              <a:spcBef>
                <a:spcPts val="536"/>
              </a:spcBef>
              <a:buSzPct val="100000"/>
            </a:pPr>
            <a:r>
              <a:rPr lang="en-US" sz="2000" dirty="0"/>
              <a:t>Experimental Results (EDA)</a:t>
            </a:r>
          </a:p>
          <a:p>
            <a:pPr marL="342900" indent="-342931">
              <a:spcBef>
                <a:spcPts val="536"/>
              </a:spcBef>
              <a:buSzPct val="100000"/>
            </a:pPr>
            <a:r>
              <a:rPr lang="en-US" sz="2000" dirty="0"/>
              <a:t>Explainable AI Results</a:t>
            </a:r>
          </a:p>
          <a:p>
            <a:pPr marL="342900" indent="-342931">
              <a:spcBef>
                <a:spcPts val="536"/>
              </a:spcBef>
              <a:buSzPct val="100000"/>
            </a:pPr>
            <a:r>
              <a:rPr lang="en-US" sz="2000" dirty="0"/>
              <a:t>Model Selection</a:t>
            </a:r>
          </a:p>
          <a:p>
            <a:pPr marL="342900" indent="-342931">
              <a:spcBef>
                <a:spcPts val="536"/>
              </a:spcBef>
              <a:buSzPct val="100000"/>
            </a:pPr>
            <a:r>
              <a:rPr lang="en-US" sz="2000" dirty="0"/>
              <a:t>Product Demonstration</a:t>
            </a:r>
            <a:endParaRPr sz="2000" dirty="0"/>
          </a:p>
          <a:p>
            <a:pPr marL="342900" indent="-342931">
              <a:spcBef>
                <a:spcPts val="536"/>
              </a:spcBef>
              <a:buSzPct val="100000"/>
            </a:pPr>
            <a:r>
              <a:rPr lang="en-US" sz="2000" dirty="0"/>
              <a:t>Conclusions and Limitations </a:t>
            </a:r>
          </a:p>
          <a:p>
            <a:pPr marL="342900" indent="-342931">
              <a:spcBef>
                <a:spcPts val="536"/>
              </a:spcBef>
              <a:buSzPct val="100000"/>
            </a:pPr>
            <a:r>
              <a:rPr lang="en-US" sz="2000" dirty="0"/>
              <a:t>Future Works</a:t>
            </a:r>
          </a:p>
          <a:p>
            <a:pPr marL="342900" indent="-342931">
              <a:spcBef>
                <a:spcPts val="536"/>
              </a:spcBef>
              <a:buSzPct val="100000"/>
            </a:pPr>
            <a:r>
              <a:rPr lang="en-US" sz="2000" dirty="0"/>
              <a:t>References </a:t>
            </a:r>
            <a:endParaRPr sz="2000" dirty="0"/>
          </a:p>
          <a:p>
            <a:pPr marL="342900" indent="-342931">
              <a:spcBef>
                <a:spcPts val="536"/>
              </a:spcBef>
              <a:buSzPct val="100000"/>
            </a:pPr>
            <a:r>
              <a:rPr lang="en-US" sz="2000" dirty="0"/>
              <a:t>Acknowledgment</a:t>
            </a:r>
            <a:endParaRPr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3"/>
          <p:cNvSpPr txBox="1">
            <a:spLocks noGrp="1"/>
          </p:cNvSpPr>
          <p:nvPr>
            <p:ph type="title"/>
          </p:nvPr>
        </p:nvSpPr>
        <p:spPr>
          <a:xfrm>
            <a:off x="1062468" y="540721"/>
            <a:ext cx="11374017" cy="757335"/>
          </a:xfrm>
          <a:prstGeom prst="rect">
            <a:avLst/>
          </a:prstGeom>
          <a:noFill/>
          <a:ln>
            <a:noFill/>
          </a:ln>
        </p:spPr>
        <p:txBody>
          <a:bodyPr spcFirstLastPara="1" wrap="square" lIns="91425" tIns="45700" rIns="91425" bIns="45700" anchor="ctr" anchorCtr="0">
            <a:normAutofit/>
          </a:bodyPr>
          <a:lstStyle/>
          <a:p>
            <a:pPr>
              <a:buClr>
                <a:srgbClr val="632423"/>
              </a:buClr>
              <a:buSzPct val="100000"/>
            </a:pPr>
            <a:r>
              <a:rPr lang="en-US" sz="4500" dirty="0">
                <a:sym typeface="Arial Rounded"/>
              </a:rPr>
              <a:t>BACKGROUND AND Introduction </a:t>
            </a:r>
            <a:endParaRPr sz="4500" dirty="0"/>
          </a:p>
        </p:txBody>
      </p:sp>
      <p:sp>
        <p:nvSpPr>
          <p:cNvPr id="109" name="Google Shape;109;p3"/>
          <p:cNvSpPr txBox="1">
            <a:spLocks noGrp="1"/>
          </p:cNvSpPr>
          <p:nvPr>
            <p:ph idx="1"/>
          </p:nvPr>
        </p:nvSpPr>
        <p:spPr>
          <a:xfrm>
            <a:off x="835087" y="1583056"/>
            <a:ext cx="6024465" cy="4641239"/>
          </a:xfrm>
          <a:prstGeom prst="rect">
            <a:avLst/>
          </a:prstGeom>
          <a:noFill/>
          <a:ln>
            <a:noFill/>
          </a:ln>
        </p:spPr>
        <p:txBody>
          <a:bodyPr spcFirstLastPara="1" wrap="square" lIns="91425" tIns="45700" rIns="91425" bIns="45700" anchor="t" anchorCtr="0">
            <a:normAutofit/>
          </a:bodyPr>
          <a:lstStyle/>
          <a:p>
            <a:pPr>
              <a:buFont typeface="Wingdings" panose="05000000000000000000" pitchFamily="2" charset="2"/>
              <a:buChar char="Ø"/>
            </a:pPr>
            <a:r>
              <a:rPr lang="en-US" dirty="0"/>
              <a:t>Macular Degeneration, also known as Age-related Macular Degeneration (AMD), is one of the leading causes of vision loss worldwide, and its prevalence is steadily increasing in Uganda. </a:t>
            </a:r>
          </a:p>
          <a:p>
            <a:pPr>
              <a:buFont typeface="Wingdings" panose="05000000000000000000" pitchFamily="2" charset="2"/>
              <a:buChar char="Ø"/>
            </a:pPr>
            <a:r>
              <a:rPr lang="en-US" dirty="0"/>
              <a:t>However, the early detection of AMD remains a significant challenge.</a:t>
            </a:r>
          </a:p>
          <a:p>
            <a:pPr>
              <a:buFont typeface="Wingdings" panose="05000000000000000000" pitchFamily="2" charset="2"/>
              <a:buChar char="Ø"/>
            </a:pPr>
            <a:r>
              <a:rPr lang="en-US" dirty="0"/>
              <a:t>This project explores the potential of machine learning models in addressing these challenges by enhancing early detection and improving diagnostic accuracy.</a:t>
            </a:r>
          </a:p>
          <a:p>
            <a:pPr marL="342900" indent="-190500">
              <a:buNone/>
            </a:pPr>
            <a:endParaRPr dirty="0"/>
          </a:p>
          <a:p>
            <a:pPr marL="342900" indent="-190500">
              <a:buNone/>
            </a:pPr>
            <a:endParaRPr dirty="0"/>
          </a:p>
        </p:txBody>
      </p:sp>
      <p:sp>
        <p:nvSpPr>
          <p:cNvPr id="2" name="Google Shape;109;p3">
            <a:extLst>
              <a:ext uri="{FF2B5EF4-FFF2-40B4-BE49-F238E27FC236}">
                <a16:creationId xmlns:a16="http://schemas.microsoft.com/office/drawing/2014/main" id="{01EC6B07-6569-B6A0-3948-E945AB29E102}"/>
              </a:ext>
            </a:extLst>
          </p:cNvPr>
          <p:cNvSpPr txBox="1">
            <a:spLocks/>
          </p:cNvSpPr>
          <p:nvPr/>
        </p:nvSpPr>
        <p:spPr>
          <a:xfrm>
            <a:off x="6111547" y="1237046"/>
            <a:ext cx="6024465" cy="5333260"/>
          </a:xfrm>
          <a:prstGeom prst="rect">
            <a:avLst/>
          </a:prstGeom>
          <a:noFill/>
          <a:ln>
            <a:noFill/>
          </a:ln>
        </p:spPr>
        <p:txBody>
          <a:bodyPr spcFirstLastPara="1" vert="horz" wrap="square" lIns="91425" tIns="45700" rIns="91425" bIns="45700" rtlCol="0" anchor="t" anchorCtr="0">
            <a:normAutofit/>
          </a:bodyPr>
          <a:lst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a:lstStyle>
          <a:p>
            <a:pPr marL="342900" indent="-190500">
              <a:buFont typeface="Tw Cen MT" panose="020B0602020104020603" pitchFamily="34" charset="0"/>
              <a:buNone/>
            </a:pPr>
            <a:endParaRPr lang="en-US" dirty="0"/>
          </a:p>
          <a:p>
            <a:pPr marL="342900" indent="-190500">
              <a:buFont typeface="Tw Cen MT" panose="020B0602020104020603" pitchFamily="34" charset="0"/>
              <a:buNone/>
            </a:pPr>
            <a:endParaRPr lang="en-US" dirty="0"/>
          </a:p>
        </p:txBody>
      </p:sp>
      <p:pic>
        <p:nvPicPr>
          <p:cNvPr id="5" name="Content Placeholder 4">
            <a:extLst>
              <a:ext uri="{FF2B5EF4-FFF2-40B4-BE49-F238E27FC236}">
                <a16:creationId xmlns:a16="http://schemas.microsoft.com/office/drawing/2014/main" id="{53387D2F-DA47-C886-AA3D-E4D6A5C564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42763" y="1496332"/>
            <a:ext cx="4114150" cy="402272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5"/>
          <p:cNvSpPr txBox="1">
            <a:spLocks noGrp="1"/>
          </p:cNvSpPr>
          <p:nvPr>
            <p:ph type="title"/>
          </p:nvPr>
        </p:nvSpPr>
        <p:spPr>
          <a:xfrm>
            <a:off x="802431" y="697357"/>
            <a:ext cx="9896669" cy="430763"/>
          </a:xfrm>
          <a:prstGeom prst="rect">
            <a:avLst/>
          </a:prstGeom>
          <a:noFill/>
          <a:ln>
            <a:noFill/>
          </a:ln>
        </p:spPr>
        <p:txBody>
          <a:bodyPr spcFirstLastPara="1" wrap="square" lIns="91425" tIns="45700" rIns="91425" bIns="45700" anchor="ctr" anchorCtr="0">
            <a:normAutofit fontScale="90000"/>
          </a:bodyPr>
          <a:lstStyle/>
          <a:p>
            <a:pPr>
              <a:buSzPct val="100000"/>
            </a:pPr>
            <a:r>
              <a:rPr lang="en-US" dirty="0"/>
              <a:t>Related Works</a:t>
            </a:r>
            <a:endParaRPr dirty="0"/>
          </a:p>
        </p:txBody>
      </p:sp>
      <p:sp>
        <p:nvSpPr>
          <p:cNvPr id="121" name="Google Shape;121;p5"/>
          <p:cNvSpPr txBox="1">
            <a:spLocks noGrp="1"/>
          </p:cNvSpPr>
          <p:nvPr>
            <p:ph idx="1"/>
          </p:nvPr>
        </p:nvSpPr>
        <p:spPr>
          <a:xfrm>
            <a:off x="954830" y="1468758"/>
            <a:ext cx="5935827" cy="4844958"/>
          </a:xfrm>
          <a:prstGeom prst="rect">
            <a:avLst/>
          </a:prstGeom>
          <a:noFill/>
          <a:ln>
            <a:noFill/>
          </a:ln>
        </p:spPr>
        <p:txBody>
          <a:bodyPr spcFirstLastPara="1" wrap="square" lIns="91425" tIns="45700" rIns="91425" bIns="45700" anchor="t" anchorCtr="0">
            <a:normAutofit/>
          </a:bodyPr>
          <a:lstStyle/>
          <a:p>
            <a:pPr>
              <a:buFont typeface="Wingdings" panose="05000000000000000000" pitchFamily="2" charset="2"/>
              <a:buChar char="Ø"/>
            </a:pPr>
            <a:r>
              <a:rPr lang="en-US" sz="2400" dirty="0"/>
              <a:t>In recent trends, various deep learning models such as Convolutional Neural Networks (CNN) have been widely used in different works for retinal scan image analysis in AMD detection. </a:t>
            </a:r>
          </a:p>
          <a:p>
            <a:pPr>
              <a:buFont typeface="Arial" panose="020B0604020202020204" pitchFamily="34" charset="0"/>
              <a:buChar char="•"/>
            </a:pPr>
            <a:r>
              <a:rPr lang="en-US" sz="2400" dirty="0"/>
              <a:t>Some of these include the Retina AI Health and the Eyenuk.</a:t>
            </a:r>
          </a:p>
          <a:p>
            <a:pPr>
              <a:buFont typeface="Wingdings" panose="05000000000000000000" pitchFamily="2" charset="2"/>
              <a:buChar char="Ø"/>
            </a:pPr>
            <a:r>
              <a:rPr lang="en-US" sz="2400" dirty="0"/>
              <a:t>Retina AI Health and Eyenuk are both U.S.-based health technology companies that specialize in applying artificial intelligence to eye care.</a:t>
            </a:r>
          </a:p>
          <a:p>
            <a:pPr marL="342900" indent="-342900">
              <a:spcBef>
                <a:spcPts val="0"/>
              </a:spcBef>
            </a:pPr>
            <a:endParaRPr dirty="0"/>
          </a:p>
        </p:txBody>
      </p:sp>
      <p:pic>
        <p:nvPicPr>
          <p:cNvPr id="3" name="Picture 2">
            <a:extLst>
              <a:ext uri="{FF2B5EF4-FFF2-40B4-BE49-F238E27FC236}">
                <a16:creationId xmlns:a16="http://schemas.microsoft.com/office/drawing/2014/main" id="{B954E926-1BC7-00A4-89AB-FBC76BC551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32171" y="1246416"/>
            <a:ext cx="5007429" cy="50673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38D7F9D3-ED04-4014-2AFD-979E1959FFA5}"/>
            </a:ext>
          </a:extLst>
        </p:cNvPr>
        <p:cNvGrpSpPr/>
        <p:nvPr/>
      </p:nvGrpSpPr>
      <p:grpSpPr>
        <a:xfrm>
          <a:off x="0" y="0"/>
          <a:ext cx="0" cy="0"/>
          <a:chOff x="0" y="0"/>
          <a:chExt cx="0" cy="0"/>
        </a:xfrm>
      </p:grpSpPr>
      <p:sp>
        <p:nvSpPr>
          <p:cNvPr id="114" name="Google Shape;114;p4">
            <a:extLst>
              <a:ext uri="{FF2B5EF4-FFF2-40B4-BE49-F238E27FC236}">
                <a16:creationId xmlns:a16="http://schemas.microsoft.com/office/drawing/2014/main" id="{53CC1BC8-64D7-86EA-3EF7-7A54EE6351C1}"/>
              </a:ext>
            </a:extLst>
          </p:cNvPr>
          <p:cNvSpPr txBox="1">
            <a:spLocks noGrp="1"/>
          </p:cNvSpPr>
          <p:nvPr>
            <p:ph type="title"/>
          </p:nvPr>
        </p:nvSpPr>
        <p:spPr>
          <a:xfrm>
            <a:off x="1981200" y="381000"/>
            <a:ext cx="8077200" cy="370042"/>
          </a:xfrm>
          <a:prstGeom prst="rect">
            <a:avLst/>
          </a:prstGeom>
          <a:noFill/>
          <a:ln>
            <a:noFill/>
          </a:ln>
        </p:spPr>
        <p:txBody>
          <a:bodyPr spcFirstLastPara="1" wrap="square" lIns="91425" tIns="45700" rIns="91425" bIns="45700" anchor="ctr" anchorCtr="0">
            <a:normAutofit fontScale="90000"/>
          </a:bodyPr>
          <a:lstStyle/>
          <a:p>
            <a:pPr>
              <a:buSzPct val="100000"/>
            </a:pPr>
            <a:r>
              <a:rPr lang="en-US" dirty="0"/>
              <a:t>Problem Statements</a:t>
            </a:r>
            <a:endParaRPr dirty="0"/>
          </a:p>
        </p:txBody>
      </p:sp>
      <p:sp>
        <p:nvSpPr>
          <p:cNvPr id="115" name="Google Shape;115;p4">
            <a:extLst>
              <a:ext uri="{FF2B5EF4-FFF2-40B4-BE49-F238E27FC236}">
                <a16:creationId xmlns:a16="http://schemas.microsoft.com/office/drawing/2014/main" id="{FF772F0E-927A-9BBA-B8FC-BBB75A6F5F8E}"/>
              </a:ext>
            </a:extLst>
          </p:cNvPr>
          <p:cNvSpPr txBox="1">
            <a:spLocks noGrp="1"/>
          </p:cNvSpPr>
          <p:nvPr>
            <p:ph idx="1"/>
          </p:nvPr>
        </p:nvSpPr>
        <p:spPr>
          <a:xfrm>
            <a:off x="636036" y="865342"/>
            <a:ext cx="10348339" cy="5127315"/>
          </a:xfrm>
          <a:prstGeom prst="rect">
            <a:avLst/>
          </a:prstGeom>
          <a:noFill/>
          <a:ln>
            <a:noFill/>
          </a:ln>
        </p:spPr>
        <p:txBody>
          <a:bodyPr spcFirstLastPara="1" wrap="square" lIns="91425" tIns="45700" rIns="91425" bIns="45700" anchor="t" anchorCtr="0">
            <a:noAutofit/>
          </a:bodyPr>
          <a:lstStyle/>
          <a:p>
            <a:r>
              <a:rPr lang="en-US" b="1" dirty="0"/>
              <a:t>Domain Application problems</a:t>
            </a:r>
          </a:p>
          <a:p>
            <a:endParaRPr lang="en-US" dirty="0"/>
          </a:p>
          <a:p>
            <a:pPr>
              <a:spcBef>
                <a:spcPts val="0"/>
              </a:spcBef>
              <a:buFont typeface="Arial" panose="020B0604020202020204" pitchFamily="34" charset="0"/>
              <a:buChar char="•"/>
            </a:pPr>
            <a:r>
              <a:rPr lang="en-US" dirty="0"/>
              <a:t>High cost of diagnosis </a:t>
            </a:r>
          </a:p>
          <a:p>
            <a:pPr marL="0" indent="0">
              <a:spcBef>
                <a:spcPts val="0"/>
              </a:spcBef>
              <a:buNone/>
            </a:pPr>
            <a:r>
              <a:rPr lang="en-US" dirty="0"/>
              <a:t>Diagnostic tools like OCT are expensive, making AMD screening inaccessible to many people.</a:t>
            </a:r>
          </a:p>
          <a:p>
            <a:pPr marL="0" indent="0">
              <a:spcBef>
                <a:spcPts val="0"/>
              </a:spcBef>
              <a:buNone/>
            </a:pPr>
            <a:endParaRPr lang="en-US" dirty="0"/>
          </a:p>
          <a:p>
            <a:pPr>
              <a:spcBef>
                <a:spcPts val="0"/>
              </a:spcBef>
              <a:buFont typeface="Arial" panose="020B0604020202020204" pitchFamily="34" charset="0"/>
              <a:buChar char="•"/>
            </a:pPr>
            <a:r>
              <a:rPr lang="en-US" dirty="0"/>
              <a:t>Lack of localized AI models </a:t>
            </a:r>
          </a:p>
          <a:p>
            <a:pPr marL="0" indent="0">
              <a:spcBef>
                <a:spcPts val="0"/>
              </a:spcBef>
              <a:buNone/>
            </a:pPr>
            <a:r>
              <a:rPr lang="en-US" dirty="0"/>
              <a:t>The existing AI models are often trained on datasets from high-income countries and may not perform well for Ugandan patients due to genetic and environmental differences.</a:t>
            </a:r>
          </a:p>
          <a:p>
            <a:pPr marL="0" indent="0">
              <a:spcBef>
                <a:spcPts val="0"/>
              </a:spcBef>
              <a:buNone/>
            </a:pPr>
            <a:endParaRPr lang="en-US" dirty="0"/>
          </a:p>
          <a:p>
            <a:pPr>
              <a:spcBef>
                <a:spcPts val="0"/>
              </a:spcBef>
              <a:buFont typeface="Arial" panose="020B0604020202020204" pitchFamily="34" charset="0"/>
              <a:buChar char="•"/>
            </a:pPr>
            <a:r>
              <a:rPr lang="en-US" dirty="0"/>
              <a:t>Computational constraints</a:t>
            </a:r>
          </a:p>
          <a:p>
            <a:pPr marL="0" indent="0">
              <a:spcBef>
                <a:spcPts val="0"/>
              </a:spcBef>
              <a:buNone/>
            </a:pPr>
            <a:r>
              <a:rPr lang="en-US" dirty="0"/>
              <a:t> Many healthcare facilities in Uganda have limited infrastructure and hardware, making it difficult to deploy computationally intensive AI models.</a:t>
            </a:r>
          </a:p>
        </p:txBody>
      </p:sp>
    </p:spTree>
    <p:extLst>
      <p:ext uri="{BB962C8B-B14F-4D97-AF65-F5344CB8AC3E}">
        <p14:creationId xmlns:p14="http://schemas.microsoft.com/office/powerpoint/2010/main" val="7387858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0A650ECC-E06C-7AA6-10BC-9A23DC9B4107}"/>
            </a:ext>
          </a:extLst>
        </p:cNvPr>
        <p:cNvGrpSpPr/>
        <p:nvPr/>
      </p:nvGrpSpPr>
      <p:grpSpPr>
        <a:xfrm>
          <a:off x="0" y="0"/>
          <a:ext cx="0" cy="0"/>
          <a:chOff x="0" y="0"/>
          <a:chExt cx="0" cy="0"/>
        </a:xfrm>
      </p:grpSpPr>
      <p:sp>
        <p:nvSpPr>
          <p:cNvPr id="114" name="Google Shape;114;p4">
            <a:extLst>
              <a:ext uri="{FF2B5EF4-FFF2-40B4-BE49-F238E27FC236}">
                <a16:creationId xmlns:a16="http://schemas.microsoft.com/office/drawing/2014/main" id="{36BF13DE-816F-D233-1F14-507EFEA7DBD2}"/>
              </a:ext>
            </a:extLst>
          </p:cNvPr>
          <p:cNvSpPr txBox="1">
            <a:spLocks noGrp="1"/>
          </p:cNvSpPr>
          <p:nvPr>
            <p:ph type="title" idx="4294967295"/>
          </p:nvPr>
        </p:nvSpPr>
        <p:spPr>
          <a:xfrm>
            <a:off x="0" y="381000"/>
            <a:ext cx="8077200" cy="369888"/>
          </a:xfrm>
          <a:prstGeom prst="rect">
            <a:avLst/>
          </a:prstGeom>
          <a:noFill/>
          <a:ln>
            <a:noFill/>
          </a:ln>
        </p:spPr>
        <p:txBody>
          <a:bodyPr spcFirstLastPara="1" wrap="square" lIns="91425" tIns="45700" rIns="91425" bIns="45700" anchor="ctr" anchorCtr="0">
            <a:normAutofit fontScale="90000"/>
          </a:bodyPr>
          <a:lstStyle/>
          <a:p>
            <a:pPr algn="ctr">
              <a:buSzPct val="100000"/>
            </a:pPr>
            <a:r>
              <a:rPr lang="en-US" dirty="0"/>
              <a:t>          Problem Statements CONTINUED…</a:t>
            </a:r>
            <a:endParaRPr dirty="0"/>
          </a:p>
        </p:txBody>
      </p:sp>
      <p:sp>
        <p:nvSpPr>
          <p:cNvPr id="2" name="Google Shape;115;p4">
            <a:extLst>
              <a:ext uri="{FF2B5EF4-FFF2-40B4-BE49-F238E27FC236}">
                <a16:creationId xmlns:a16="http://schemas.microsoft.com/office/drawing/2014/main" id="{48CFF58F-761E-74C9-BEE5-65110BDBED26}"/>
              </a:ext>
            </a:extLst>
          </p:cNvPr>
          <p:cNvSpPr txBox="1">
            <a:spLocks/>
          </p:cNvSpPr>
          <p:nvPr/>
        </p:nvSpPr>
        <p:spPr>
          <a:xfrm>
            <a:off x="358814" y="750888"/>
            <a:ext cx="11614693" cy="5584372"/>
          </a:xfrm>
          <a:prstGeom prst="rect">
            <a:avLst/>
          </a:prstGeom>
          <a:noFill/>
          <a:ln>
            <a:noFill/>
          </a:ln>
        </p:spPr>
        <p:txBody>
          <a:bodyPr spcFirstLastPara="1" vert="horz" wrap="square" lIns="91425" tIns="45700" rIns="91425" bIns="45700" rtlCol="0" anchor="t" anchorCtr="0">
            <a:normAutofit/>
          </a:bodyPr>
          <a:lst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a:lstStyle>
          <a:p>
            <a:pPr marL="0" indent="0">
              <a:spcBef>
                <a:spcPts val="0"/>
              </a:spcBef>
              <a:buFont typeface="Tw Cen MT" panose="020B0602020104020603" pitchFamily="34" charset="0"/>
              <a:buNone/>
            </a:pPr>
            <a:endParaRPr lang="en-US" dirty="0"/>
          </a:p>
        </p:txBody>
      </p:sp>
      <p:graphicFrame>
        <p:nvGraphicFramePr>
          <p:cNvPr id="3" name="Table 2">
            <a:extLst>
              <a:ext uri="{FF2B5EF4-FFF2-40B4-BE49-F238E27FC236}">
                <a16:creationId xmlns:a16="http://schemas.microsoft.com/office/drawing/2014/main" id="{BDBE07B7-5ABE-06ED-7572-FAC377CCC6B4}"/>
              </a:ext>
            </a:extLst>
          </p:cNvPr>
          <p:cNvGraphicFramePr>
            <a:graphicFrameLocks noGrp="1"/>
          </p:cNvGraphicFramePr>
          <p:nvPr>
            <p:extLst>
              <p:ext uri="{D42A27DB-BD31-4B8C-83A1-F6EECF244321}">
                <p14:modId xmlns:p14="http://schemas.microsoft.com/office/powerpoint/2010/main" val="2875967261"/>
              </p:ext>
            </p:extLst>
          </p:nvPr>
        </p:nvGraphicFramePr>
        <p:xfrm>
          <a:off x="358814" y="972274"/>
          <a:ext cx="11614693" cy="5594409"/>
        </p:xfrm>
        <a:graphic>
          <a:graphicData uri="http://schemas.openxmlformats.org/drawingml/2006/table">
            <a:tbl>
              <a:tblPr firstRow="1" bandRow="1">
                <a:tableStyleId>{5C22544A-7EE6-4342-B048-85BDC9FD1C3A}</a:tableStyleId>
              </a:tblPr>
              <a:tblGrid>
                <a:gridCol w="5818898">
                  <a:extLst>
                    <a:ext uri="{9D8B030D-6E8A-4147-A177-3AD203B41FA5}">
                      <a16:colId xmlns:a16="http://schemas.microsoft.com/office/drawing/2014/main" val="4230704449"/>
                    </a:ext>
                  </a:extLst>
                </a:gridCol>
                <a:gridCol w="5795795">
                  <a:extLst>
                    <a:ext uri="{9D8B030D-6E8A-4147-A177-3AD203B41FA5}">
                      <a16:colId xmlns:a16="http://schemas.microsoft.com/office/drawing/2014/main" val="2846195932"/>
                    </a:ext>
                  </a:extLst>
                </a:gridCol>
              </a:tblGrid>
              <a:tr h="604434">
                <a:tc gridSpan="2">
                  <a:txBody>
                    <a:bodyPr/>
                    <a:lstStyle/>
                    <a:p>
                      <a:pPr algn="l"/>
                      <a:r>
                        <a:rPr lang="en-US" sz="2200" dirty="0">
                          <a:solidFill>
                            <a:schemeClr val="tx1"/>
                          </a:solidFill>
                        </a:rPr>
                        <a:t>Computational problems</a:t>
                      </a:r>
                    </a:p>
                  </a:txBody>
                  <a:tcPr/>
                </a:tc>
                <a:tc hMerge="1">
                  <a:txBody>
                    <a:bodyPr/>
                    <a:lstStyle/>
                    <a:p>
                      <a:endParaRPr lang="en-US" dirty="0"/>
                    </a:p>
                  </a:txBody>
                  <a:tcPr/>
                </a:tc>
                <a:extLst>
                  <a:ext uri="{0D108BD9-81ED-4DB2-BD59-A6C34878D82A}">
                    <a16:rowId xmlns:a16="http://schemas.microsoft.com/office/drawing/2014/main" val="2406975246"/>
                  </a:ext>
                </a:extLst>
              </a:tr>
              <a:tr h="649706">
                <a:tc>
                  <a:txBody>
                    <a:bodyPr/>
                    <a:lstStyle/>
                    <a:p>
                      <a:r>
                        <a:rPr lang="en-US" sz="2200" dirty="0"/>
                        <a:t>Method</a:t>
                      </a:r>
                    </a:p>
                  </a:txBody>
                  <a:tcPr/>
                </a:tc>
                <a:tc>
                  <a:txBody>
                    <a:bodyPr/>
                    <a:lstStyle/>
                    <a:p>
                      <a:r>
                        <a:rPr lang="en-US" sz="2200" dirty="0"/>
                        <a:t>Why method was implemented</a:t>
                      </a:r>
                    </a:p>
                  </a:txBody>
                  <a:tcPr/>
                </a:tc>
                <a:extLst>
                  <a:ext uri="{0D108BD9-81ED-4DB2-BD59-A6C34878D82A}">
                    <a16:rowId xmlns:a16="http://schemas.microsoft.com/office/drawing/2014/main" val="4234385358"/>
                  </a:ext>
                </a:extLst>
              </a:tr>
              <a:tr h="1631644">
                <a:tc>
                  <a:txBody>
                    <a:bodyPr/>
                    <a:lstStyle/>
                    <a:p>
                      <a:r>
                        <a:rPr lang="en-US" dirty="0"/>
                        <a:t>Graph Attention Mechanisms</a:t>
                      </a:r>
                    </a:p>
                  </a:txBody>
                  <a:tcPr/>
                </a:tc>
                <a:tc>
                  <a:txBody>
                    <a:bodyPr/>
                    <a:lstStyle/>
                    <a:p>
                      <a:r>
                        <a:rPr lang="en-US" dirty="0"/>
                        <a:t>Retinal images have subtle features that are critical for AMD diagnosis. Graph Attention Mechanisms allow the model to focus on the most relevant regions by assigning attention weights, addressing the challenge of identifying subtle patterns.</a:t>
                      </a:r>
                    </a:p>
                  </a:txBody>
                  <a:tcPr/>
                </a:tc>
                <a:extLst>
                  <a:ext uri="{0D108BD9-81ED-4DB2-BD59-A6C34878D82A}">
                    <a16:rowId xmlns:a16="http://schemas.microsoft.com/office/drawing/2014/main" val="3263802246"/>
                  </a:ext>
                </a:extLst>
              </a:tr>
              <a:tr h="1245585">
                <a:tc>
                  <a:txBody>
                    <a:bodyPr/>
                    <a:lstStyle/>
                    <a:p>
                      <a:r>
                        <a:rPr lang="en-US" dirty="0"/>
                        <a:t>Self-Routing capsules</a:t>
                      </a:r>
                    </a:p>
                  </a:txBody>
                  <a:tcPr/>
                </a:tc>
                <a:tc>
                  <a:txBody>
                    <a:bodyPr/>
                    <a:lstStyle/>
                    <a:p>
                      <a:r>
                        <a:rPr lang="en-US" dirty="0"/>
                        <a:t>AMD abnormalities have complex spatial structures. Self-routing capsules are used to capture these spatial hierarchies, solving the challenge of modeling relationships between features for precise segmentation.</a:t>
                      </a:r>
                    </a:p>
                  </a:txBody>
                  <a:tcPr/>
                </a:tc>
                <a:extLst>
                  <a:ext uri="{0D108BD9-81ED-4DB2-BD59-A6C34878D82A}">
                    <a16:rowId xmlns:a16="http://schemas.microsoft.com/office/drawing/2014/main" val="867829575"/>
                  </a:ext>
                </a:extLst>
              </a:tr>
              <a:tr h="1453004">
                <a:tc>
                  <a:txBody>
                    <a:bodyPr/>
                    <a:lstStyle/>
                    <a:p>
                      <a:r>
                        <a:rPr lang="en-US" dirty="0"/>
                        <a:t>Knowledge distillation</a:t>
                      </a:r>
                    </a:p>
                  </a:txBody>
                  <a:tcPr/>
                </a:tc>
                <a:tc>
                  <a:txBody>
                    <a:bodyPr/>
                    <a:lstStyle/>
                    <a:p>
                      <a:r>
                        <a:rPr lang="en-US" dirty="0"/>
                        <a:t>Segmentation models can be computationally heavy, but medical applications need efficiency. Knowledge Distillation transfers knowledge from a larger model to a smaller one, addressing the challenge of making the model practical for real-world use.</a:t>
                      </a:r>
                    </a:p>
                  </a:txBody>
                  <a:tcPr/>
                </a:tc>
                <a:extLst>
                  <a:ext uri="{0D108BD9-81ED-4DB2-BD59-A6C34878D82A}">
                    <a16:rowId xmlns:a16="http://schemas.microsoft.com/office/drawing/2014/main" val="207256124"/>
                  </a:ext>
                </a:extLst>
              </a:tr>
            </a:tbl>
          </a:graphicData>
        </a:graphic>
      </p:graphicFrame>
    </p:spTree>
    <p:extLst>
      <p:ext uri="{BB962C8B-B14F-4D97-AF65-F5344CB8AC3E}">
        <p14:creationId xmlns:p14="http://schemas.microsoft.com/office/powerpoint/2010/main" val="8774736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6"/>
          <p:cNvSpPr txBox="1">
            <a:spLocks noGrp="1"/>
          </p:cNvSpPr>
          <p:nvPr>
            <p:ph type="title"/>
          </p:nvPr>
        </p:nvSpPr>
        <p:spPr>
          <a:xfrm>
            <a:off x="1981200" y="555171"/>
            <a:ext cx="8077200" cy="370042"/>
          </a:xfrm>
          <a:prstGeom prst="rect">
            <a:avLst/>
          </a:prstGeom>
          <a:noFill/>
          <a:ln>
            <a:noFill/>
          </a:ln>
        </p:spPr>
        <p:txBody>
          <a:bodyPr spcFirstLastPara="1" wrap="square" lIns="91425" tIns="45700" rIns="91425" bIns="45700" anchor="ctr" anchorCtr="0">
            <a:normAutofit fontScale="90000"/>
          </a:bodyPr>
          <a:lstStyle/>
          <a:p>
            <a:pPr>
              <a:buSzPct val="100000"/>
            </a:pPr>
            <a:r>
              <a:rPr lang="en-US" dirty="0"/>
              <a:t>Research Objectives</a:t>
            </a:r>
            <a:endParaRPr dirty="0"/>
          </a:p>
        </p:txBody>
      </p:sp>
      <p:sp>
        <p:nvSpPr>
          <p:cNvPr id="127" name="Google Shape;127;p6"/>
          <p:cNvSpPr txBox="1">
            <a:spLocks noGrp="1"/>
          </p:cNvSpPr>
          <p:nvPr>
            <p:ph idx="1"/>
          </p:nvPr>
        </p:nvSpPr>
        <p:spPr>
          <a:xfrm>
            <a:off x="1366934" y="1762671"/>
            <a:ext cx="9094238" cy="3037929"/>
          </a:xfrm>
          <a:prstGeom prst="rect">
            <a:avLst/>
          </a:prstGeom>
          <a:noFill/>
          <a:ln>
            <a:noFill/>
          </a:ln>
        </p:spPr>
        <p:txBody>
          <a:bodyPr spcFirstLastPara="1" wrap="square" lIns="91425" tIns="45700" rIns="91425" bIns="45700" anchor="t" anchorCtr="0">
            <a:normAutofit/>
          </a:bodyPr>
          <a:lstStyle/>
          <a:p>
            <a:pPr>
              <a:buFont typeface="Wingdings" panose="05000000000000000000" pitchFamily="2" charset="2"/>
              <a:buChar char="Ø"/>
            </a:pPr>
            <a:r>
              <a:rPr lang="en-US" dirty="0"/>
              <a:t>To develop </a:t>
            </a:r>
            <a:r>
              <a:rPr lang="en-GB" dirty="0"/>
              <a:t>a machine learning model for the early detection of macular degeneration.</a:t>
            </a:r>
          </a:p>
          <a:p>
            <a:pPr>
              <a:buFont typeface="Wingdings" panose="05000000000000000000" pitchFamily="2" charset="2"/>
              <a:buChar char="Ø"/>
            </a:pPr>
            <a:r>
              <a:rPr lang="en-GB" dirty="0"/>
              <a:t>To improve diagnostic accuracy and speed of AMD.</a:t>
            </a:r>
          </a:p>
          <a:p>
            <a:pPr>
              <a:buFont typeface="Wingdings" panose="05000000000000000000" pitchFamily="2" charset="2"/>
              <a:buChar char="Ø"/>
            </a:pPr>
            <a:r>
              <a:rPr lang="en-GB" dirty="0"/>
              <a:t>To provide an accessible tool for medical professionals.</a:t>
            </a:r>
          </a:p>
          <a:p>
            <a:pPr>
              <a:buFont typeface="Wingdings" panose="05000000000000000000" pitchFamily="2" charset="2"/>
              <a:buChar char="Ø"/>
            </a:pPr>
            <a:r>
              <a:rPr lang="en-GB" dirty="0"/>
              <a:t>To increase diagnosis accessibility for patients in regions with limited healthcare resources.</a:t>
            </a:r>
          </a:p>
          <a:p>
            <a:pPr marL="742950" lvl="1" indent="-285750"/>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6"/>
          <p:cNvSpPr txBox="1">
            <a:spLocks noGrp="1"/>
          </p:cNvSpPr>
          <p:nvPr>
            <p:ph type="title"/>
          </p:nvPr>
        </p:nvSpPr>
        <p:spPr>
          <a:xfrm>
            <a:off x="2057400" y="605747"/>
            <a:ext cx="8077200" cy="370042"/>
          </a:xfrm>
          <a:prstGeom prst="rect">
            <a:avLst/>
          </a:prstGeom>
          <a:noFill/>
          <a:ln>
            <a:noFill/>
          </a:ln>
        </p:spPr>
        <p:txBody>
          <a:bodyPr spcFirstLastPara="1" wrap="square" lIns="91425" tIns="45700" rIns="91425" bIns="45700" anchor="ctr" anchorCtr="0">
            <a:normAutofit fontScale="90000"/>
          </a:bodyPr>
          <a:lstStyle/>
          <a:p>
            <a:pPr>
              <a:buSzPct val="100000"/>
            </a:pPr>
            <a:r>
              <a:rPr lang="en-US" dirty="0"/>
              <a:t>Research Contributions </a:t>
            </a:r>
            <a:endParaRPr dirty="0"/>
          </a:p>
        </p:txBody>
      </p:sp>
      <p:sp>
        <p:nvSpPr>
          <p:cNvPr id="127" name="Google Shape;127;p6"/>
          <p:cNvSpPr txBox="1">
            <a:spLocks noGrp="1"/>
          </p:cNvSpPr>
          <p:nvPr>
            <p:ph idx="1"/>
          </p:nvPr>
        </p:nvSpPr>
        <p:spPr>
          <a:xfrm>
            <a:off x="1027923" y="1574504"/>
            <a:ext cx="10674220" cy="2202840"/>
          </a:xfrm>
          <a:prstGeom prst="rect">
            <a:avLst/>
          </a:prstGeom>
          <a:noFill/>
          <a:ln>
            <a:noFill/>
          </a:ln>
        </p:spPr>
        <p:txBody>
          <a:bodyPr spcFirstLastPara="1" wrap="square" lIns="91425" tIns="45700" rIns="91425" bIns="45700" anchor="t" anchorCtr="0">
            <a:normAutofit/>
          </a:bodyPr>
          <a:lstStyle/>
          <a:p>
            <a:pPr>
              <a:buFont typeface="Wingdings" panose="05000000000000000000" pitchFamily="2" charset="2"/>
              <a:buChar char="Ø"/>
            </a:pPr>
            <a:r>
              <a:rPr lang="en-US" dirty="0"/>
              <a:t>We developed </a:t>
            </a:r>
            <a:r>
              <a:rPr lang="en-GB" dirty="0"/>
              <a:t>a machine learning model that will improve the diagnostic accuracy and speed of macular degeneration.</a:t>
            </a:r>
          </a:p>
          <a:p>
            <a:pPr>
              <a:buFont typeface="Wingdings" panose="05000000000000000000" pitchFamily="2" charset="2"/>
              <a:buChar char="Ø"/>
            </a:pPr>
            <a:r>
              <a:rPr lang="en-GB" dirty="0"/>
              <a:t>We built a model that can be used on devices with low GPUs.</a:t>
            </a:r>
          </a:p>
          <a:p>
            <a:pPr marL="742950" lvl="1" indent="-285750"/>
            <a:endParaRPr dirty="0"/>
          </a:p>
        </p:txBody>
      </p:sp>
    </p:spTree>
    <p:extLst>
      <p:ext uri="{BB962C8B-B14F-4D97-AF65-F5344CB8AC3E}">
        <p14:creationId xmlns:p14="http://schemas.microsoft.com/office/powerpoint/2010/main" val="24574788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49C18007-8E9F-E8C3-8A17-002902CFCA81}"/>
            </a:ext>
          </a:extLst>
        </p:cNvPr>
        <p:cNvGrpSpPr/>
        <p:nvPr/>
      </p:nvGrpSpPr>
      <p:grpSpPr>
        <a:xfrm>
          <a:off x="0" y="0"/>
          <a:ext cx="0" cy="0"/>
          <a:chOff x="0" y="0"/>
          <a:chExt cx="0" cy="0"/>
        </a:xfrm>
      </p:grpSpPr>
      <p:sp>
        <p:nvSpPr>
          <p:cNvPr id="132" name="Google Shape;132;p7">
            <a:extLst>
              <a:ext uri="{FF2B5EF4-FFF2-40B4-BE49-F238E27FC236}">
                <a16:creationId xmlns:a16="http://schemas.microsoft.com/office/drawing/2014/main" id="{06CD9183-AAF8-5818-78E2-29A10B918AC5}"/>
              </a:ext>
            </a:extLst>
          </p:cNvPr>
          <p:cNvSpPr txBox="1">
            <a:spLocks noGrp="1"/>
          </p:cNvSpPr>
          <p:nvPr>
            <p:ph type="title"/>
          </p:nvPr>
        </p:nvSpPr>
        <p:spPr>
          <a:xfrm>
            <a:off x="1959429" y="345128"/>
            <a:ext cx="8077200" cy="370042"/>
          </a:xfrm>
          <a:prstGeom prst="rect">
            <a:avLst/>
          </a:prstGeom>
          <a:noFill/>
          <a:ln>
            <a:noFill/>
          </a:ln>
        </p:spPr>
        <p:txBody>
          <a:bodyPr spcFirstLastPara="1" wrap="square" lIns="91425" tIns="45700" rIns="91425" bIns="45700" anchor="ctr" anchorCtr="0">
            <a:normAutofit fontScale="90000"/>
          </a:bodyPr>
          <a:lstStyle/>
          <a:p>
            <a:pPr>
              <a:buSzPct val="100000"/>
            </a:pPr>
            <a:r>
              <a:rPr lang="en-US" dirty="0"/>
              <a:t>Methodology</a:t>
            </a:r>
            <a:endParaRPr dirty="0"/>
          </a:p>
        </p:txBody>
      </p:sp>
      <p:sp>
        <p:nvSpPr>
          <p:cNvPr id="133" name="Google Shape;133;p7">
            <a:extLst>
              <a:ext uri="{FF2B5EF4-FFF2-40B4-BE49-F238E27FC236}">
                <a16:creationId xmlns:a16="http://schemas.microsoft.com/office/drawing/2014/main" id="{F6606847-184B-21E5-4D1E-3411B5FFE269}"/>
              </a:ext>
            </a:extLst>
          </p:cNvPr>
          <p:cNvSpPr txBox="1">
            <a:spLocks noGrp="1"/>
          </p:cNvSpPr>
          <p:nvPr>
            <p:ph idx="1"/>
          </p:nvPr>
        </p:nvSpPr>
        <p:spPr>
          <a:xfrm>
            <a:off x="942391" y="975789"/>
            <a:ext cx="10898155" cy="5127315"/>
          </a:xfrm>
          <a:prstGeom prst="rect">
            <a:avLst/>
          </a:prstGeom>
          <a:noFill/>
          <a:ln>
            <a:noFill/>
          </a:ln>
        </p:spPr>
        <p:txBody>
          <a:bodyPr spcFirstLastPara="1" wrap="square" lIns="91425" tIns="45700" rIns="91425" bIns="45700" anchor="t" anchorCtr="0">
            <a:normAutofit/>
          </a:bodyPr>
          <a:lstStyle/>
          <a:p>
            <a:pPr>
              <a:buFont typeface="Wingdings" panose="05000000000000000000" pitchFamily="2" charset="2"/>
              <a:buChar char="Ø"/>
            </a:pPr>
            <a:r>
              <a:rPr lang="en-GB" dirty="0"/>
              <a:t>Our project leverages deep learning techniques such as Graph Attention Mechanisms, Self-Routing Capsule Networks, and Knowledge Distillation to design an AI-driven support system for ophthalmologists.</a:t>
            </a:r>
            <a:r>
              <a:rPr lang="en-US" dirty="0"/>
              <a:t> </a:t>
            </a:r>
          </a:p>
          <a:p>
            <a:pPr>
              <a:buFont typeface="Wingdings" panose="05000000000000000000" pitchFamily="2" charset="2"/>
              <a:buChar char="Ø"/>
            </a:pPr>
            <a:r>
              <a:rPr lang="en-GB" dirty="0"/>
              <a:t>The system will analyse retinal OCT scan images to aid the early detection of AMD.</a:t>
            </a:r>
          </a:p>
          <a:p>
            <a:pPr marL="342900" indent="-190500">
              <a:buNone/>
            </a:pPr>
            <a:endParaRPr dirty="0"/>
          </a:p>
        </p:txBody>
      </p:sp>
      <p:pic>
        <p:nvPicPr>
          <p:cNvPr id="4" name="Picture 3">
            <a:extLst>
              <a:ext uri="{FF2B5EF4-FFF2-40B4-BE49-F238E27FC236}">
                <a16:creationId xmlns:a16="http://schemas.microsoft.com/office/drawing/2014/main" id="{3F34922F-B5AB-14D8-7569-142B3BB2E6F2}"/>
              </a:ext>
            </a:extLst>
          </p:cNvPr>
          <p:cNvPicPr>
            <a:picLocks noChangeAspect="1"/>
          </p:cNvPicPr>
          <p:nvPr/>
        </p:nvPicPr>
        <p:blipFill>
          <a:blip r:embed="rId3"/>
          <a:stretch>
            <a:fillRect/>
          </a:stretch>
        </p:blipFill>
        <p:spPr>
          <a:xfrm>
            <a:off x="0" y="3429000"/>
            <a:ext cx="12191999" cy="1551008"/>
          </a:xfrm>
          <a:prstGeom prst="rect">
            <a:avLst/>
          </a:prstGeom>
        </p:spPr>
      </p:pic>
    </p:spTree>
    <p:extLst>
      <p:ext uri="{BB962C8B-B14F-4D97-AF65-F5344CB8AC3E}">
        <p14:creationId xmlns:p14="http://schemas.microsoft.com/office/powerpoint/2010/main" val="15932475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1BAE8-9D7E-4E43-1140-E1B0AA63CF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92FBCA-85E9-5D0F-0643-FF724D854B67}"/>
              </a:ext>
            </a:extLst>
          </p:cNvPr>
          <p:cNvSpPr>
            <a:spLocks noGrp="1"/>
          </p:cNvSpPr>
          <p:nvPr>
            <p:ph type="title"/>
          </p:nvPr>
        </p:nvSpPr>
        <p:spPr/>
        <p:txBody>
          <a:bodyPr/>
          <a:lstStyle/>
          <a:p>
            <a:r>
              <a:rPr lang="en-US" dirty="0"/>
              <a:t>SYSTEM ARCHITECTURE</a:t>
            </a:r>
          </a:p>
        </p:txBody>
      </p:sp>
      <p:sp>
        <p:nvSpPr>
          <p:cNvPr id="4" name="Slide Number Placeholder 3">
            <a:extLst>
              <a:ext uri="{FF2B5EF4-FFF2-40B4-BE49-F238E27FC236}">
                <a16:creationId xmlns:a16="http://schemas.microsoft.com/office/drawing/2014/main" id="{E91F15DF-4FEF-746A-3C43-A1D08CCE5AEA}"/>
              </a:ext>
            </a:extLst>
          </p:cNvPr>
          <p:cNvSpPr>
            <a:spLocks noGrp="1"/>
          </p:cNvSpPr>
          <p:nvPr>
            <p:ph type="sldNum" sz="quarter" idx="12"/>
          </p:nvPr>
        </p:nvSpPr>
        <p:spPr/>
        <p:txBody>
          <a:bodyPr/>
          <a:lstStyle/>
          <a:p>
            <a:fld id="{0428C338-E682-4B46-9632-D57B5813D090}" type="slidenum">
              <a:rPr lang="en-US" smtClean="0"/>
              <a:t>10</a:t>
            </a:fld>
            <a:endParaRPr lang="en-US"/>
          </a:p>
        </p:txBody>
      </p:sp>
      <p:pic>
        <p:nvPicPr>
          <p:cNvPr id="12" name="Content Placeholder 11">
            <a:extLst>
              <a:ext uri="{FF2B5EF4-FFF2-40B4-BE49-F238E27FC236}">
                <a16:creationId xmlns:a16="http://schemas.microsoft.com/office/drawing/2014/main" id="{60C51E83-096F-7311-6446-74DF040029BB}"/>
              </a:ext>
            </a:extLst>
          </p:cNvPr>
          <p:cNvPicPr>
            <a:picLocks noGrp="1" noChangeAspect="1"/>
          </p:cNvPicPr>
          <p:nvPr>
            <p:ph idx="1"/>
          </p:nvPr>
        </p:nvPicPr>
        <p:blipFill>
          <a:blip r:embed="rId2"/>
          <a:stretch>
            <a:fillRect/>
          </a:stretch>
        </p:blipFill>
        <p:spPr>
          <a:xfrm>
            <a:off x="648182" y="1770927"/>
            <a:ext cx="10189151" cy="4699777"/>
          </a:xfrm>
        </p:spPr>
      </p:pic>
    </p:spTree>
    <p:extLst>
      <p:ext uri="{BB962C8B-B14F-4D97-AF65-F5344CB8AC3E}">
        <p14:creationId xmlns:p14="http://schemas.microsoft.com/office/powerpoint/2010/main" val="26644510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345373"/>
            <a:ext cx="9720072" cy="1499616"/>
          </a:xfrm>
        </p:spPr>
        <p:txBody>
          <a:bodyPr/>
          <a:lstStyle/>
          <a:p>
            <a:r>
              <a:rPr dirty="0"/>
              <a:t>Dataset</a:t>
            </a:r>
            <a:r>
              <a:rPr lang="en-US" dirty="0"/>
              <a:t> DESCRIPTION</a:t>
            </a:r>
            <a:endParaRPr dirty="0"/>
          </a:p>
        </p:txBody>
      </p:sp>
      <p:sp>
        <p:nvSpPr>
          <p:cNvPr id="3" name="Content Placeholder 2"/>
          <p:cNvSpPr>
            <a:spLocks noGrp="1"/>
          </p:cNvSpPr>
          <p:nvPr>
            <p:ph idx="1"/>
          </p:nvPr>
        </p:nvSpPr>
        <p:spPr>
          <a:xfrm>
            <a:off x="1024127" y="1530196"/>
            <a:ext cx="10356636" cy="1649102"/>
          </a:xfrm>
        </p:spPr>
        <p:txBody>
          <a:bodyPr>
            <a:normAutofit/>
          </a:bodyPr>
          <a:lstStyle/>
          <a:p>
            <a:pPr>
              <a:buFont typeface="Wingdings" panose="05000000000000000000" pitchFamily="2" charset="2"/>
              <a:buChar char="Ø"/>
            </a:pPr>
            <a:r>
              <a:rPr lang="en-GB" dirty="0"/>
              <a:t>We used a publicly available retinal image AMD-SD dataset.</a:t>
            </a:r>
          </a:p>
          <a:p>
            <a:pPr>
              <a:buFont typeface="Wingdings" panose="05000000000000000000" pitchFamily="2" charset="2"/>
              <a:buChar char="Ø"/>
            </a:pPr>
            <a:r>
              <a:rPr lang="en-US" dirty="0"/>
              <a:t>It consists of 3049 Optical Coherence Tomography (OCT) images. </a:t>
            </a:r>
          </a:p>
          <a:p>
            <a:pPr>
              <a:buFont typeface="Wingdings" panose="05000000000000000000" pitchFamily="2" charset="2"/>
              <a:buChar char="Ø"/>
            </a:pPr>
            <a:r>
              <a:rPr lang="en-US" dirty="0"/>
              <a:t>The images have a resolution of 570x380 pixels ensuring high detail for analysis. </a:t>
            </a:r>
          </a:p>
          <a:p>
            <a:pPr marL="0" indent="0">
              <a:buNone/>
            </a:pPr>
            <a:endParaRPr lang="en-GB" b="1" dirty="0"/>
          </a:p>
          <a:p>
            <a:endParaRPr lang="en-GB" dirty="0"/>
          </a:p>
          <a:p>
            <a:endParaRPr dirty="0"/>
          </a:p>
        </p:txBody>
      </p:sp>
      <p:graphicFrame>
        <p:nvGraphicFramePr>
          <p:cNvPr id="4" name="Table 3">
            <a:extLst>
              <a:ext uri="{FF2B5EF4-FFF2-40B4-BE49-F238E27FC236}">
                <a16:creationId xmlns:a16="http://schemas.microsoft.com/office/drawing/2014/main" id="{B64F5974-FD8E-474E-911C-FE3FC704A88C}"/>
              </a:ext>
            </a:extLst>
          </p:cNvPr>
          <p:cNvGraphicFramePr>
            <a:graphicFrameLocks noGrp="1"/>
          </p:cNvGraphicFramePr>
          <p:nvPr/>
        </p:nvGraphicFramePr>
        <p:xfrm>
          <a:off x="1581013" y="3175781"/>
          <a:ext cx="8128000" cy="323088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248605692"/>
                    </a:ext>
                  </a:extLst>
                </a:gridCol>
                <a:gridCol w="4064000">
                  <a:extLst>
                    <a:ext uri="{9D8B030D-6E8A-4147-A177-3AD203B41FA5}">
                      <a16:colId xmlns:a16="http://schemas.microsoft.com/office/drawing/2014/main" val="1996609333"/>
                    </a:ext>
                  </a:extLst>
                </a:gridCol>
              </a:tblGrid>
              <a:tr h="370840">
                <a:tc>
                  <a:txBody>
                    <a:bodyPr/>
                    <a:lstStyle/>
                    <a:p>
                      <a:r>
                        <a:rPr lang="en-GB" sz="2200" dirty="0"/>
                        <a:t>Characteristic</a:t>
                      </a:r>
                    </a:p>
                  </a:txBody>
                  <a:tcPr/>
                </a:tc>
                <a:tc>
                  <a:txBody>
                    <a:bodyPr/>
                    <a:lstStyle/>
                    <a:p>
                      <a:r>
                        <a:rPr lang="en-GB" sz="2200" dirty="0"/>
                        <a:t>Details</a:t>
                      </a:r>
                    </a:p>
                  </a:txBody>
                  <a:tcPr/>
                </a:tc>
                <a:extLst>
                  <a:ext uri="{0D108BD9-81ED-4DB2-BD59-A6C34878D82A}">
                    <a16:rowId xmlns:a16="http://schemas.microsoft.com/office/drawing/2014/main" val="3507696614"/>
                  </a:ext>
                </a:extLst>
              </a:tr>
              <a:tr h="370840">
                <a:tc>
                  <a:txBody>
                    <a:bodyPr/>
                    <a:lstStyle/>
                    <a:p>
                      <a:r>
                        <a:rPr lang="en-GB" sz="2200" dirty="0"/>
                        <a:t>Dataset Name</a:t>
                      </a:r>
                    </a:p>
                  </a:txBody>
                  <a:tcPr/>
                </a:tc>
                <a:tc>
                  <a:txBody>
                    <a:bodyPr/>
                    <a:lstStyle/>
                    <a:p>
                      <a:r>
                        <a:rPr lang="en-GB" sz="2200" dirty="0"/>
                        <a:t>AMD-SD Dataset</a:t>
                      </a:r>
                    </a:p>
                  </a:txBody>
                  <a:tcPr/>
                </a:tc>
                <a:extLst>
                  <a:ext uri="{0D108BD9-81ED-4DB2-BD59-A6C34878D82A}">
                    <a16:rowId xmlns:a16="http://schemas.microsoft.com/office/drawing/2014/main" val="2272337445"/>
                  </a:ext>
                </a:extLst>
              </a:tr>
              <a:tr h="370840">
                <a:tc>
                  <a:txBody>
                    <a:bodyPr/>
                    <a:lstStyle/>
                    <a:p>
                      <a:r>
                        <a:rPr lang="en-GB" sz="2200" dirty="0"/>
                        <a:t>Number of patients</a:t>
                      </a:r>
                    </a:p>
                  </a:txBody>
                  <a:tcPr/>
                </a:tc>
                <a:tc>
                  <a:txBody>
                    <a:bodyPr/>
                    <a:lstStyle/>
                    <a:p>
                      <a:r>
                        <a:rPr lang="en-GB" sz="2200" dirty="0"/>
                        <a:t>138 patients</a:t>
                      </a:r>
                    </a:p>
                  </a:txBody>
                  <a:tcPr/>
                </a:tc>
                <a:extLst>
                  <a:ext uri="{0D108BD9-81ED-4DB2-BD59-A6C34878D82A}">
                    <a16:rowId xmlns:a16="http://schemas.microsoft.com/office/drawing/2014/main" val="3433994277"/>
                  </a:ext>
                </a:extLst>
              </a:tr>
              <a:tr h="370840">
                <a:tc>
                  <a:txBody>
                    <a:bodyPr/>
                    <a:lstStyle/>
                    <a:p>
                      <a:r>
                        <a:rPr lang="en-GB" sz="2200" dirty="0"/>
                        <a:t>Number of Images</a:t>
                      </a:r>
                    </a:p>
                  </a:txBody>
                  <a:tcPr/>
                </a:tc>
                <a:tc>
                  <a:txBody>
                    <a:bodyPr/>
                    <a:lstStyle/>
                    <a:p>
                      <a:r>
                        <a:rPr lang="en-GB" sz="2200" dirty="0"/>
                        <a:t>3049 OCT B-scan images</a:t>
                      </a:r>
                    </a:p>
                  </a:txBody>
                  <a:tcPr/>
                </a:tc>
                <a:extLst>
                  <a:ext uri="{0D108BD9-81ED-4DB2-BD59-A6C34878D82A}">
                    <a16:rowId xmlns:a16="http://schemas.microsoft.com/office/drawing/2014/main" val="4023745642"/>
                  </a:ext>
                </a:extLst>
              </a:tr>
              <a:tr h="370840">
                <a:tc>
                  <a:txBody>
                    <a:bodyPr/>
                    <a:lstStyle/>
                    <a:p>
                      <a:r>
                        <a:rPr lang="en-GB" sz="2200" dirty="0"/>
                        <a:t>Dataset Components</a:t>
                      </a:r>
                    </a:p>
                  </a:txBody>
                  <a:tcPr/>
                </a:tc>
                <a:tc>
                  <a:txBody>
                    <a:bodyPr/>
                    <a:lstStyle/>
                    <a:p>
                      <a:r>
                        <a:rPr lang="en-GB" sz="2200" dirty="0"/>
                        <a:t>Images folder, Demographics file, Training text file, Validation file</a:t>
                      </a:r>
                    </a:p>
                  </a:txBody>
                  <a:tcPr/>
                </a:tc>
                <a:extLst>
                  <a:ext uri="{0D108BD9-81ED-4DB2-BD59-A6C34878D82A}">
                    <a16:rowId xmlns:a16="http://schemas.microsoft.com/office/drawing/2014/main" val="1307014533"/>
                  </a:ext>
                </a:extLst>
              </a:tr>
              <a:tr h="370840">
                <a:tc>
                  <a:txBody>
                    <a:bodyPr/>
                    <a:lstStyle/>
                    <a:p>
                      <a:r>
                        <a:rPr lang="en-GB" sz="2200" dirty="0"/>
                        <a:t>Demographics considered</a:t>
                      </a:r>
                    </a:p>
                  </a:txBody>
                  <a:tcPr/>
                </a:tc>
                <a:tc>
                  <a:txBody>
                    <a:bodyPr/>
                    <a:lstStyle/>
                    <a:p>
                      <a:r>
                        <a:rPr lang="en-GB" sz="2200" dirty="0"/>
                        <a:t>Patient ID, Eye ID, Eye category, Age, Sex, Time acquired</a:t>
                      </a:r>
                    </a:p>
                  </a:txBody>
                  <a:tcPr/>
                </a:tc>
                <a:extLst>
                  <a:ext uri="{0D108BD9-81ED-4DB2-BD59-A6C34878D82A}">
                    <a16:rowId xmlns:a16="http://schemas.microsoft.com/office/drawing/2014/main" val="3712751361"/>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8"/>
          <p:cNvSpPr txBox="1">
            <a:spLocks noGrp="1"/>
          </p:cNvSpPr>
          <p:nvPr>
            <p:ph type="title"/>
          </p:nvPr>
        </p:nvSpPr>
        <p:spPr>
          <a:xfrm>
            <a:off x="1981200" y="381000"/>
            <a:ext cx="9784702" cy="370042"/>
          </a:xfrm>
          <a:prstGeom prst="rect">
            <a:avLst/>
          </a:prstGeom>
          <a:noFill/>
          <a:ln>
            <a:noFill/>
          </a:ln>
        </p:spPr>
        <p:txBody>
          <a:bodyPr spcFirstLastPara="1" wrap="square" lIns="91425" tIns="45700" rIns="91425" bIns="45700" anchor="ctr" anchorCtr="0">
            <a:normAutofit fontScale="90000"/>
          </a:bodyPr>
          <a:lstStyle/>
          <a:p>
            <a:pPr>
              <a:buSzPct val="100000"/>
            </a:pPr>
            <a:r>
              <a:rPr lang="en-US" dirty="0"/>
              <a:t>Exploratory data analysis (EDA) RESULTS</a:t>
            </a:r>
            <a:endParaRPr dirty="0"/>
          </a:p>
        </p:txBody>
      </p:sp>
      <p:pic>
        <p:nvPicPr>
          <p:cNvPr id="8" name="Content Placeholder 7">
            <a:extLst>
              <a:ext uri="{FF2B5EF4-FFF2-40B4-BE49-F238E27FC236}">
                <a16:creationId xmlns:a16="http://schemas.microsoft.com/office/drawing/2014/main" id="{2E7BB290-562C-5796-F518-D5867EC16F6C}"/>
              </a:ext>
            </a:extLst>
          </p:cNvPr>
          <p:cNvPicPr>
            <a:picLocks noGrp="1" noChangeAspect="1"/>
          </p:cNvPicPr>
          <p:nvPr>
            <p:ph idx="1"/>
          </p:nvPr>
        </p:nvPicPr>
        <p:blipFill>
          <a:blip r:embed="rId3"/>
          <a:stretch>
            <a:fillRect/>
          </a:stretch>
        </p:blipFill>
        <p:spPr>
          <a:xfrm>
            <a:off x="4328341" y="751042"/>
            <a:ext cx="3834881" cy="3322405"/>
          </a:xfrm>
          <a:prstGeom prst="rect">
            <a:avLst/>
          </a:prstGeom>
        </p:spPr>
      </p:pic>
      <p:pic>
        <p:nvPicPr>
          <p:cNvPr id="2" name="Picture 1">
            <a:extLst>
              <a:ext uri="{FF2B5EF4-FFF2-40B4-BE49-F238E27FC236}">
                <a16:creationId xmlns:a16="http://schemas.microsoft.com/office/drawing/2014/main" id="{366D969C-8252-E323-D925-B1488628341A}"/>
              </a:ext>
            </a:extLst>
          </p:cNvPr>
          <p:cNvPicPr>
            <a:picLocks noChangeAspect="1"/>
          </p:cNvPicPr>
          <p:nvPr/>
        </p:nvPicPr>
        <p:blipFill>
          <a:blip r:embed="rId4"/>
          <a:stretch>
            <a:fillRect/>
          </a:stretch>
        </p:blipFill>
        <p:spPr>
          <a:xfrm>
            <a:off x="106732" y="751042"/>
            <a:ext cx="3985148" cy="3322405"/>
          </a:xfrm>
          <a:prstGeom prst="rect">
            <a:avLst/>
          </a:prstGeom>
        </p:spPr>
      </p:pic>
      <p:pic>
        <p:nvPicPr>
          <p:cNvPr id="9" name="Picture 8">
            <a:extLst>
              <a:ext uri="{FF2B5EF4-FFF2-40B4-BE49-F238E27FC236}">
                <a16:creationId xmlns:a16="http://schemas.microsoft.com/office/drawing/2014/main" id="{977A4497-5937-DBFB-8B10-8BCA89061DCB}"/>
              </a:ext>
            </a:extLst>
          </p:cNvPr>
          <p:cNvPicPr>
            <a:picLocks noChangeAspect="1"/>
          </p:cNvPicPr>
          <p:nvPr/>
        </p:nvPicPr>
        <p:blipFill>
          <a:blip r:embed="rId5"/>
          <a:stretch>
            <a:fillRect/>
          </a:stretch>
        </p:blipFill>
        <p:spPr>
          <a:xfrm>
            <a:off x="8399683" y="827242"/>
            <a:ext cx="3574602" cy="3246205"/>
          </a:xfrm>
          <a:prstGeom prst="rect">
            <a:avLst/>
          </a:prstGeom>
        </p:spPr>
      </p:pic>
      <p:pic>
        <p:nvPicPr>
          <p:cNvPr id="10" name="Picture 9">
            <a:extLst>
              <a:ext uri="{FF2B5EF4-FFF2-40B4-BE49-F238E27FC236}">
                <a16:creationId xmlns:a16="http://schemas.microsoft.com/office/drawing/2014/main" id="{85DBB19D-3DB5-8B5C-D613-4D4FA59AA12F}"/>
              </a:ext>
            </a:extLst>
          </p:cNvPr>
          <p:cNvPicPr>
            <a:picLocks noChangeAspect="1"/>
          </p:cNvPicPr>
          <p:nvPr/>
        </p:nvPicPr>
        <p:blipFill>
          <a:blip r:embed="rId6"/>
          <a:stretch>
            <a:fillRect/>
          </a:stretch>
        </p:blipFill>
        <p:spPr>
          <a:xfrm>
            <a:off x="224963" y="4040862"/>
            <a:ext cx="3985148" cy="2784553"/>
          </a:xfrm>
          <a:prstGeom prst="rect">
            <a:avLst/>
          </a:prstGeom>
        </p:spPr>
      </p:pic>
      <p:pic>
        <p:nvPicPr>
          <p:cNvPr id="13" name="Picture 12">
            <a:extLst>
              <a:ext uri="{FF2B5EF4-FFF2-40B4-BE49-F238E27FC236}">
                <a16:creationId xmlns:a16="http://schemas.microsoft.com/office/drawing/2014/main" id="{7C6ECD0E-F81F-D17E-8774-CCC3CAFC3734}"/>
              </a:ext>
            </a:extLst>
          </p:cNvPr>
          <p:cNvPicPr>
            <a:picLocks noChangeAspect="1"/>
          </p:cNvPicPr>
          <p:nvPr/>
        </p:nvPicPr>
        <p:blipFill>
          <a:blip r:embed="rId7"/>
          <a:stretch>
            <a:fillRect/>
          </a:stretch>
        </p:blipFill>
        <p:spPr>
          <a:xfrm>
            <a:off x="4328341" y="4040862"/>
            <a:ext cx="4071342" cy="2697395"/>
          </a:xfrm>
          <a:prstGeom prst="rect">
            <a:avLst/>
          </a:prstGeom>
        </p:spPr>
      </p:pic>
      <p:pic>
        <p:nvPicPr>
          <p:cNvPr id="14" name="Content Placeholder 4">
            <a:extLst>
              <a:ext uri="{FF2B5EF4-FFF2-40B4-BE49-F238E27FC236}">
                <a16:creationId xmlns:a16="http://schemas.microsoft.com/office/drawing/2014/main" id="{37547F4A-D433-5389-FF88-20F0D735D644}"/>
              </a:ext>
            </a:extLst>
          </p:cNvPr>
          <p:cNvPicPr>
            <a:picLocks noChangeAspect="1"/>
          </p:cNvPicPr>
          <p:nvPr/>
        </p:nvPicPr>
        <p:blipFill>
          <a:blip r:embed="rId8"/>
          <a:stretch>
            <a:fillRect/>
          </a:stretch>
        </p:blipFill>
        <p:spPr>
          <a:xfrm>
            <a:off x="8281452" y="4128020"/>
            <a:ext cx="3692833" cy="269739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7556555-0CDC-FDDF-6E64-27B317C112F5}"/>
              </a:ext>
            </a:extLst>
          </p:cNvPr>
          <p:cNvSpPr>
            <a:spLocks noGrp="1"/>
          </p:cNvSpPr>
          <p:nvPr>
            <p:ph type="sldNum" sz="quarter" idx="12"/>
          </p:nvPr>
        </p:nvSpPr>
        <p:spPr/>
        <p:txBody>
          <a:bodyPr/>
          <a:lstStyle/>
          <a:p>
            <a:fld id="{0428C338-E682-4B46-9632-D57B5813D090}" type="slidenum">
              <a:rPr lang="en-US" smtClean="0"/>
              <a:t>13</a:t>
            </a:fld>
            <a:endParaRPr lang="en-US"/>
          </a:p>
        </p:txBody>
      </p:sp>
      <p:pic>
        <p:nvPicPr>
          <p:cNvPr id="6" name="Picture 5">
            <a:extLst>
              <a:ext uri="{FF2B5EF4-FFF2-40B4-BE49-F238E27FC236}">
                <a16:creationId xmlns:a16="http://schemas.microsoft.com/office/drawing/2014/main" id="{85E20396-C3CC-8FF9-2086-93C8BDD02DE5}"/>
              </a:ext>
            </a:extLst>
          </p:cNvPr>
          <p:cNvPicPr>
            <a:picLocks noChangeAspect="1"/>
          </p:cNvPicPr>
          <p:nvPr/>
        </p:nvPicPr>
        <p:blipFill>
          <a:blip r:embed="rId2"/>
          <a:stretch>
            <a:fillRect/>
          </a:stretch>
        </p:blipFill>
        <p:spPr>
          <a:xfrm>
            <a:off x="4228666" y="143156"/>
            <a:ext cx="4207762" cy="3429000"/>
          </a:xfrm>
          <a:prstGeom prst="rect">
            <a:avLst/>
          </a:prstGeom>
        </p:spPr>
      </p:pic>
      <p:pic>
        <p:nvPicPr>
          <p:cNvPr id="7" name="Picture 6">
            <a:extLst>
              <a:ext uri="{FF2B5EF4-FFF2-40B4-BE49-F238E27FC236}">
                <a16:creationId xmlns:a16="http://schemas.microsoft.com/office/drawing/2014/main" id="{7E044AB0-729A-2E27-F5C6-005B7251EAAF}"/>
              </a:ext>
            </a:extLst>
          </p:cNvPr>
          <p:cNvPicPr>
            <a:picLocks noChangeAspect="1"/>
          </p:cNvPicPr>
          <p:nvPr/>
        </p:nvPicPr>
        <p:blipFill>
          <a:blip r:embed="rId3"/>
          <a:stretch>
            <a:fillRect/>
          </a:stretch>
        </p:blipFill>
        <p:spPr>
          <a:xfrm>
            <a:off x="0" y="286313"/>
            <a:ext cx="3929743" cy="3142687"/>
          </a:xfrm>
          <a:prstGeom prst="rect">
            <a:avLst/>
          </a:prstGeom>
        </p:spPr>
      </p:pic>
      <p:pic>
        <p:nvPicPr>
          <p:cNvPr id="12" name="Picture 11">
            <a:extLst>
              <a:ext uri="{FF2B5EF4-FFF2-40B4-BE49-F238E27FC236}">
                <a16:creationId xmlns:a16="http://schemas.microsoft.com/office/drawing/2014/main" id="{43083D57-9422-3175-4E10-2A6CAE2A1B3A}"/>
              </a:ext>
            </a:extLst>
          </p:cNvPr>
          <p:cNvPicPr>
            <a:picLocks noChangeAspect="1"/>
          </p:cNvPicPr>
          <p:nvPr/>
        </p:nvPicPr>
        <p:blipFill>
          <a:blip r:embed="rId4"/>
          <a:stretch>
            <a:fillRect/>
          </a:stretch>
        </p:blipFill>
        <p:spPr>
          <a:xfrm>
            <a:off x="149461" y="3459280"/>
            <a:ext cx="3929744" cy="3148584"/>
          </a:xfrm>
          <a:prstGeom prst="rect">
            <a:avLst/>
          </a:prstGeom>
        </p:spPr>
      </p:pic>
      <p:pic>
        <p:nvPicPr>
          <p:cNvPr id="13" name="Content Placeholder 10">
            <a:extLst>
              <a:ext uri="{FF2B5EF4-FFF2-40B4-BE49-F238E27FC236}">
                <a16:creationId xmlns:a16="http://schemas.microsoft.com/office/drawing/2014/main" id="{75F0257C-D9E5-F386-9DAE-3B3336CA58A3}"/>
              </a:ext>
            </a:extLst>
          </p:cNvPr>
          <p:cNvPicPr>
            <a:picLocks noGrp="1" noChangeAspect="1"/>
          </p:cNvPicPr>
          <p:nvPr>
            <p:ph idx="1"/>
          </p:nvPr>
        </p:nvPicPr>
        <p:blipFill>
          <a:blip r:embed="rId5"/>
          <a:stretch>
            <a:fillRect/>
          </a:stretch>
        </p:blipFill>
        <p:spPr>
          <a:xfrm>
            <a:off x="4228666" y="3572156"/>
            <a:ext cx="4033591" cy="3011424"/>
          </a:xfrm>
          <a:prstGeom prst="rect">
            <a:avLst/>
          </a:prstGeom>
        </p:spPr>
      </p:pic>
      <p:pic>
        <p:nvPicPr>
          <p:cNvPr id="14" name="Picture 13">
            <a:extLst>
              <a:ext uri="{FF2B5EF4-FFF2-40B4-BE49-F238E27FC236}">
                <a16:creationId xmlns:a16="http://schemas.microsoft.com/office/drawing/2014/main" id="{BA825637-9D9C-262C-52BE-EA26D5CC5E71}"/>
              </a:ext>
            </a:extLst>
          </p:cNvPr>
          <p:cNvPicPr>
            <a:picLocks noChangeAspect="1"/>
          </p:cNvPicPr>
          <p:nvPr/>
        </p:nvPicPr>
        <p:blipFill>
          <a:blip r:embed="rId6"/>
          <a:stretch>
            <a:fillRect/>
          </a:stretch>
        </p:blipFill>
        <p:spPr>
          <a:xfrm>
            <a:off x="8585889" y="576942"/>
            <a:ext cx="3456650" cy="5660571"/>
          </a:xfrm>
          <a:prstGeom prst="rect">
            <a:avLst/>
          </a:prstGeom>
        </p:spPr>
      </p:pic>
    </p:spTree>
    <p:extLst>
      <p:ext uri="{BB962C8B-B14F-4D97-AF65-F5344CB8AC3E}">
        <p14:creationId xmlns:p14="http://schemas.microsoft.com/office/powerpoint/2010/main" val="22755448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6A8B1-835A-0291-D9BD-E6839665F096}"/>
              </a:ext>
            </a:extLst>
          </p:cNvPr>
          <p:cNvSpPr>
            <a:spLocks noGrp="1"/>
          </p:cNvSpPr>
          <p:nvPr>
            <p:ph type="title"/>
          </p:nvPr>
        </p:nvSpPr>
        <p:spPr/>
        <p:txBody>
          <a:bodyPr/>
          <a:lstStyle/>
          <a:p>
            <a:r>
              <a:rPr lang="en-US" dirty="0"/>
              <a:t>EXPLAINABLE AI</a:t>
            </a:r>
          </a:p>
        </p:txBody>
      </p:sp>
      <p:sp>
        <p:nvSpPr>
          <p:cNvPr id="3" name="Content Placeholder 2">
            <a:extLst>
              <a:ext uri="{FF2B5EF4-FFF2-40B4-BE49-F238E27FC236}">
                <a16:creationId xmlns:a16="http://schemas.microsoft.com/office/drawing/2014/main" id="{6FFABE98-F890-2FFE-0185-772CF80CEB69}"/>
              </a:ext>
            </a:extLst>
          </p:cNvPr>
          <p:cNvSpPr>
            <a:spLocks noGrp="1"/>
          </p:cNvSpPr>
          <p:nvPr>
            <p:ph idx="1"/>
          </p:nvPr>
        </p:nvSpPr>
        <p:spPr>
          <a:xfrm>
            <a:off x="1117263" y="2032898"/>
            <a:ext cx="9720071" cy="4038601"/>
          </a:xfrm>
        </p:spPr>
        <p:txBody>
          <a:bodyPr>
            <a:normAutofit/>
          </a:bodyPr>
          <a:lstStyle/>
          <a:p>
            <a:pPr>
              <a:buFont typeface="Wingdings" panose="05000000000000000000" pitchFamily="2" charset="2"/>
              <a:buChar char="Ø"/>
            </a:pPr>
            <a:r>
              <a:rPr lang="en-US" dirty="0"/>
              <a:t> The aim of explainable AI (XAI) is to make the model operations transparent and understandable. The techniques used to determine the transparency of these models were the Grad-CAM and the Saliency Maps. </a:t>
            </a:r>
          </a:p>
          <a:p>
            <a:pPr marL="342900" indent="-342900">
              <a:buFont typeface="Wingdings" panose="05000000000000000000" pitchFamily="2" charset="2"/>
              <a:buChar char="Ø"/>
            </a:pPr>
            <a:r>
              <a:rPr lang="en-US" dirty="0"/>
              <a:t>Grad-CAM, also known as Gradient-weighted Class Activation Mapping, works by generating a heatmap over the OCT scan, highlighting the most critical regions that influenced the model’s decision. </a:t>
            </a:r>
          </a:p>
          <a:p>
            <a:pPr marL="342900" indent="-342900">
              <a:buFont typeface="Wingdings" panose="05000000000000000000" pitchFamily="2" charset="2"/>
              <a:buChar char="Ø"/>
            </a:pPr>
            <a:r>
              <a:rPr lang="en-US" dirty="0"/>
              <a:t>On the other hand, Saliency Maps compute the gradient of the model’s output for each pixel in the input image, identifying the most important regions at a finer level. </a:t>
            </a:r>
          </a:p>
        </p:txBody>
      </p:sp>
      <p:sp>
        <p:nvSpPr>
          <p:cNvPr id="4" name="Slide Number Placeholder 3">
            <a:extLst>
              <a:ext uri="{FF2B5EF4-FFF2-40B4-BE49-F238E27FC236}">
                <a16:creationId xmlns:a16="http://schemas.microsoft.com/office/drawing/2014/main" id="{2BA752E8-B13A-E673-A2D6-A221B6A4A136}"/>
              </a:ext>
            </a:extLst>
          </p:cNvPr>
          <p:cNvSpPr>
            <a:spLocks noGrp="1"/>
          </p:cNvSpPr>
          <p:nvPr>
            <p:ph type="sldNum" sz="quarter" idx="12"/>
          </p:nvPr>
        </p:nvSpPr>
        <p:spPr/>
        <p:txBody>
          <a:bodyPr/>
          <a:lstStyle/>
          <a:p>
            <a:fld id="{0428C338-E682-4B46-9632-D57B5813D090}" type="slidenum">
              <a:rPr lang="en-US" smtClean="0"/>
              <a:t>14</a:t>
            </a:fld>
            <a:endParaRPr lang="en-US"/>
          </a:p>
        </p:txBody>
      </p:sp>
      <p:sp>
        <p:nvSpPr>
          <p:cNvPr id="11" name="Content Placeholder 2">
            <a:extLst>
              <a:ext uri="{FF2B5EF4-FFF2-40B4-BE49-F238E27FC236}">
                <a16:creationId xmlns:a16="http://schemas.microsoft.com/office/drawing/2014/main" id="{A3FF1530-2DF4-94E5-B114-62A91D1627E1}"/>
              </a:ext>
            </a:extLst>
          </p:cNvPr>
          <p:cNvSpPr txBox="1">
            <a:spLocks/>
          </p:cNvSpPr>
          <p:nvPr/>
        </p:nvSpPr>
        <p:spPr>
          <a:xfrm>
            <a:off x="6096000" y="1632187"/>
            <a:ext cx="5511764" cy="4840024"/>
          </a:xfrm>
          <a:prstGeom prst="rect">
            <a:avLst/>
          </a:prstGeom>
        </p:spPr>
        <p:txBody>
          <a:bodyPr vert="horz" lIns="45720" tIns="45720" rIns="45720" bIns="45720" rtlCol="0">
            <a:noAutofit/>
          </a:bodyPr>
          <a:lst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a:lstStyle>
          <a:p>
            <a:pPr marL="342900" indent="-342900">
              <a:buFont typeface="Wingdings" panose="05000000000000000000" pitchFamily="2" charset="2"/>
              <a:buChar char="Ø"/>
            </a:pPr>
            <a:endParaRPr lang="en-US" dirty="0"/>
          </a:p>
        </p:txBody>
      </p:sp>
    </p:spTree>
    <p:extLst>
      <p:ext uri="{BB962C8B-B14F-4D97-AF65-F5344CB8AC3E}">
        <p14:creationId xmlns:p14="http://schemas.microsoft.com/office/powerpoint/2010/main" val="20883949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5">
          <a:extLst>
            <a:ext uri="{FF2B5EF4-FFF2-40B4-BE49-F238E27FC236}">
              <a16:creationId xmlns:a16="http://schemas.microsoft.com/office/drawing/2014/main" id="{0440883D-5EDE-B6FD-1364-CFE9F66122CF}"/>
            </a:ext>
          </a:extLst>
        </p:cNvPr>
        <p:cNvGrpSpPr/>
        <p:nvPr/>
      </p:nvGrpSpPr>
      <p:grpSpPr>
        <a:xfrm>
          <a:off x="0" y="0"/>
          <a:ext cx="0" cy="0"/>
          <a:chOff x="0" y="0"/>
          <a:chExt cx="0" cy="0"/>
        </a:xfrm>
      </p:grpSpPr>
      <p:sp>
        <p:nvSpPr>
          <p:cNvPr id="146" name="Google Shape;146;p9">
            <a:extLst>
              <a:ext uri="{FF2B5EF4-FFF2-40B4-BE49-F238E27FC236}">
                <a16:creationId xmlns:a16="http://schemas.microsoft.com/office/drawing/2014/main" id="{4E6088CF-1CA5-5385-E155-8A08CD1ABF26}"/>
              </a:ext>
            </a:extLst>
          </p:cNvPr>
          <p:cNvSpPr txBox="1">
            <a:spLocks noGrp="1"/>
          </p:cNvSpPr>
          <p:nvPr>
            <p:ph type="title"/>
          </p:nvPr>
        </p:nvSpPr>
        <p:spPr>
          <a:xfrm>
            <a:off x="2103213" y="308102"/>
            <a:ext cx="8281758" cy="631371"/>
          </a:xfrm>
          <a:prstGeom prst="rect">
            <a:avLst/>
          </a:prstGeom>
          <a:noFill/>
          <a:ln>
            <a:noFill/>
          </a:ln>
        </p:spPr>
        <p:txBody>
          <a:bodyPr spcFirstLastPara="1" wrap="square" lIns="91425" tIns="45700" rIns="91425" bIns="45700" anchor="ctr" anchorCtr="0">
            <a:noAutofit/>
          </a:bodyPr>
          <a:lstStyle/>
          <a:p>
            <a:pPr>
              <a:buSzPts val="2800"/>
            </a:pPr>
            <a:r>
              <a:rPr lang="en-US" sz="2800" dirty="0"/>
              <a:t>Explainable AI Results FOR THE RNN_CNN_KD MODEL - BEST MODEL </a:t>
            </a:r>
            <a:endParaRPr lang="en-US" dirty="0"/>
          </a:p>
        </p:txBody>
      </p:sp>
      <p:pic>
        <p:nvPicPr>
          <p:cNvPr id="5" name="Content Placeholder 4">
            <a:extLst>
              <a:ext uri="{FF2B5EF4-FFF2-40B4-BE49-F238E27FC236}">
                <a16:creationId xmlns:a16="http://schemas.microsoft.com/office/drawing/2014/main" id="{93BFA71D-D311-BD34-934F-55FD9E20D000}"/>
              </a:ext>
            </a:extLst>
          </p:cNvPr>
          <p:cNvPicPr>
            <a:picLocks noGrp="1" noChangeAspect="1"/>
          </p:cNvPicPr>
          <p:nvPr>
            <p:ph idx="1"/>
          </p:nvPr>
        </p:nvPicPr>
        <p:blipFill>
          <a:blip r:embed="rId3"/>
          <a:stretch>
            <a:fillRect/>
          </a:stretch>
        </p:blipFill>
        <p:spPr>
          <a:xfrm>
            <a:off x="894898" y="761999"/>
            <a:ext cx="6858000" cy="2852058"/>
          </a:xfrm>
          <a:prstGeom prst="rect">
            <a:avLst/>
          </a:prstGeom>
        </p:spPr>
      </p:pic>
      <p:pic>
        <p:nvPicPr>
          <p:cNvPr id="6" name="Picture 5">
            <a:extLst>
              <a:ext uri="{FF2B5EF4-FFF2-40B4-BE49-F238E27FC236}">
                <a16:creationId xmlns:a16="http://schemas.microsoft.com/office/drawing/2014/main" id="{68F6FE5C-B7F8-4D92-A073-33A460F68CC3}"/>
              </a:ext>
            </a:extLst>
          </p:cNvPr>
          <p:cNvPicPr>
            <a:picLocks noChangeAspect="1"/>
          </p:cNvPicPr>
          <p:nvPr/>
        </p:nvPicPr>
        <p:blipFill>
          <a:blip r:embed="rId4"/>
          <a:stretch>
            <a:fillRect/>
          </a:stretch>
        </p:blipFill>
        <p:spPr>
          <a:xfrm>
            <a:off x="7752898" y="723970"/>
            <a:ext cx="3429000" cy="2876443"/>
          </a:xfrm>
          <a:prstGeom prst="rect">
            <a:avLst/>
          </a:prstGeom>
        </p:spPr>
      </p:pic>
      <p:sp>
        <p:nvSpPr>
          <p:cNvPr id="11" name="Google Shape;146;p9">
            <a:extLst>
              <a:ext uri="{FF2B5EF4-FFF2-40B4-BE49-F238E27FC236}">
                <a16:creationId xmlns:a16="http://schemas.microsoft.com/office/drawing/2014/main" id="{24B63E80-B19E-5276-8446-3CE3AE1DE011}"/>
              </a:ext>
            </a:extLst>
          </p:cNvPr>
          <p:cNvSpPr txBox="1">
            <a:spLocks/>
          </p:cNvSpPr>
          <p:nvPr/>
        </p:nvSpPr>
        <p:spPr>
          <a:xfrm>
            <a:off x="2103213" y="3310347"/>
            <a:ext cx="10277475" cy="607421"/>
          </a:xfrm>
          <a:prstGeom prst="rect">
            <a:avLst/>
          </a:prstGeom>
          <a:noFill/>
          <a:ln>
            <a:noFill/>
          </a:ln>
        </p:spPr>
        <p:txBody>
          <a:bodyPr spcFirstLastPara="1" vert="horz" wrap="square" lIns="91425" tIns="45700" rIns="91425" bIns="45700" rtlCol="0" anchor="ctr" anchorCtr="0">
            <a:noAutofit/>
          </a:bodyPr>
          <a:lstStyle>
            <a:lvl1pPr algn="l" defTabSz="914400" rtl="0" eaLnBrk="1" latinLnBrk="0" hangingPunct="1">
              <a:lnSpc>
                <a:spcPct val="80000"/>
              </a:lnSpc>
              <a:spcBef>
                <a:spcPct val="0"/>
              </a:spcBef>
              <a:buNone/>
              <a:defRPr sz="5000" kern="1200" cap="all" spc="100" baseline="0">
                <a:solidFill>
                  <a:schemeClr val="tx1">
                    <a:lumMod val="90000"/>
                    <a:lumOff val="10000"/>
                  </a:schemeClr>
                </a:solidFill>
                <a:latin typeface="+mj-lt"/>
                <a:ea typeface="+mj-ea"/>
                <a:cs typeface="+mj-cs"/>
              </a:defRPr>
            </a:lvl1pPr>
          </a:lstStyle>
          <a:p>
            <a:pPr>
              <a:buSzPts val="2800"/>
            </a:pPr>
            <a:r>
              <a:rPr lang="en-US" sz="2800" dirty="0"/>
              <a:t>Explainable AI Results UNET++_CNN_ KD MODEL - 2</a:t>
            </a:r>
            <a:r>
              <a:rPr lang="en-US" sz="2800" baseline="30000" dirty="0"/>
              <a:t>nd</a:t>
            </a:r>
            <a:r>
              <a:rPr lang="en-US" sz="2800" dirty="0"/>
              <a:t> BEST MODEL</a:t>
            </a:r>
            <a:endParaRPr lang="en-US" dirty="0"/>
          </a:p>
        </p:txBody>
      </p:sp>
      <p:pic>
        <p:nvPicPr>
          <p:cNvPr id="13" name="Picture 12">
            <a:extLst>
              <a:ext uri="{FF2B5EF4-FFF2-40B4-BE49-F238E27FC236}">
                <a16:creationId xmlns:a16="http://schemas.microsoft.com/office/drawing/2014/main" id="{A5A3FF5B-D8C2-9A65-FD95-5F3903A15D89}"/>
              </a:ext>
            </a:extLst>
          </p:cNvPr>
          <p:cNvPicPr>
            <a:picLocks noChangeAspect="1"/>
          </p:cNvPicPr>
          <p:nvPr/>
        </p:nvPicPr>
        <p:blipFill>
          <a:blip r:embed="rId5"/>
          <a:stretch>
            <a:fillRect/>
          </a:stretch>
        </p:blipFill>
        <p:spPr>
          <a:xfrm>
            <a:off x="894898" y="3955796"/>
            <a:ext cx="6858000" cy="2778036"/>
          </a:xfrm>
          <a:prstGeom prst="rect">
            <a:avLst/>
          </a:prstGeom>
        </p:spPr>
      </p:pic>
      <p:pic>
        <p:nvPicPr>
          <p:cNvPr id="14" name="Picture 13">
            <a:extLst>
              <a:ext uri="{FF2B5EF4-FFF2-40B4-BE49-F238E27FC236}">
                <a16:creationId xmlns:a16="http://schemas.microsoft.com/office/drawing/2014/main" id="{3F938F70-89B7-863A-443F-4444593C0A29}"/>
              </a:ext>
            </a:extLst>
          </p:cNvPr>
          <p:cNvPicPr>
            <a:picLocks noChangeAspect="1"/>
          </p:cNvPicPr>
          <p:nvPr/>
        </p:nvPicPr>
        <p:blipFill>
          <a:blip r:embed="rId6"/>
          <a:stretch>
            <a:fillRect/>
          </a:stretch>
        </p:blipFill>
        <p:spPr>
          <a:xfrm>
            <a:off x="7752898" y="3890481"/>
            <a:ext cx="3419475" cy="2908665"/>
          </a:xfrm>
          <a:prstGeom prst="rect">
            <a:avLst/>
          </a:prstGeom>
        </p:spPr>
      </p:pic>
    </p:spTree>
    <p:extLst>
      <p:ext uri="{BB962C8B-B14F-4D97-AF65-F5344CB8AC3E}">
        <p14:creationId xmlns:p14="http://schemas.microsoft.com/office/powerpoint/2010/main" val="28166165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5">
          <a:extLst>
            <a:ext uri="{FF2B5EF4-FFF2-40B4-BE49-F238E27FC236}">
              <a16:creationId xmlns:a16="http://schemas.microsoft.com/office/drawing/2014/main" id="{11AE9C7F-E72B-4134-814C-F9DACA7E1AF1}"/>
            </a:ext>
          </a:extLst>
        </p:cNvPr>
        <p:cNvGrpSpPr/>
        <p:nvPr/>
      </p:nvGrpSpPr>
      <p:grpSpPr>
        <a:xfrm>
          <a:off x="0" y="0"/>
          <a:ext cx="0" cy="0"/>
          <a:chOff x="0" y="0"/>
          <a:chExt cx="0" cy="0"/>
        </a:xfrm>
      </p:grpSpPr>
      <p:sp>
        <p:nvSpPr>
          <p:cNvPr id="146" name="Google Shape;146;p9">
            <a:extLst>
              <a:ext uri="{FF2B5EF4-FFF2-40B4-BE49-F238E27FC236}">
                <a16:creationId xmlns:a16="http://schemas.microsoft.com/office/drawing/2014/main" id="{717A69E1-6285-CBF2-7456-94DF3F70964D}"/>
              </a:ext>
            </a:extLst>
          </p:cNvPr>
          <p:cNvSpPr txBox="1">
            <a:spLocks noGrp="1"/>
          </p:cNvSpPr>
          <p:nvPr>
            <p:ph type="title"/>
          </p:nvPr>
        </p:nvSpPr>
        <p:spPr>
          <a:xfrm>
            <a:off x="2103213" y="308102"/>
            <a:ext cx="8281758" cy="631371"/>
          </a:xfrm>
          <a:prstGeom prst="rect">
            <a:avLst/>
          </a:prstGeom>
          <a:noFill/>
          <a:ln>
            <a:noFill/>
          </a:ln>
        </p:spPr>
        <p:txBody>
          <a:bodyPr spcFirstLastPara="1" wrap="square" lIns="91425" tIns="45700" rIns="91425" bIns="45700" anchor="ctr" anchorCtr="0">
            <a:noAutofit/>
          </a:bodyPr>
          <a:lstStyle/>
          <a:p>
            <a:pPr>
              <a:buSzPts val="2800"/>
            </a:pPr>
            <a:r>
              <a:rPr lang="en-US" sz="2800" dirty="0"/>
              <a:t>Explainable AI Results FOR THE UNET_GAT MODEL – WORST MODEL </a:t>
            </a:r>
            <a:endParaRPr lang="en-US" dirty="0"/>
          </a:p>
        </p:txBody>
      </p:sp>
      <p:sp>
        <p:nvSpPr>
          <p:cNvPr id="11" name="Google Shape;146;p9">
            <a:extLst>
              <a:ext uri="{FF2B5EF4-FFF2-40B4-BE49-F238E27FC236}">
                <a16:creationId xmlns:a16="http://schemas.microsoft.com/office/drawing/2014/main" id="{48128086-85ED-75A5-15DF-50CCF8C2F17D}"/>
              </a:ext>
            </a:extLst>
          </p:cNvPr>
          <p:cNvSpPr txBox="1">
            <a:spLocks/>
          </p:cNvSpPr>
          <p:nvPr/>
        </p:nvSpPr>
        <p:spPr>
          <a:xfrm>
            <a:off x="1914525" y="3526869"/>
            <a:ext cx="10277475" cy="607421"/>
          </a:xfrm>
          <a:prstGeom prst="rect">
            <a:avLst/>
          </a:prstGeom>
          <a:noFill/>
          <a:ln>
            <a:noFill/>
          </a:ln>
        </p:spPr>
        <p:txBody>
          <a:bodyPr spcFirstLastPara="1" vert="horz" wrap="square" lIns="91425" tIns="45700" rIns="91425" bIns="45700" rtlCol="0" anchor="ctr" anchorCtr="0">
            <a:noAutofit/>
          </a:bodyPr>
          <a:lstStyle>
            <a:lvl1pPr algn="l" defTabSz="914400" rtl="0" eaLnBrk="1" latinLnBrk="0" hangingPunct="1">
              <a:lnSpc>
                <a:spcPct val="80000"/>
              </a:lnSpc>
              <a:spcBef>
                <a:spcPct val="0"/>
              </a:spcBef>
              <a:buNone/>
              <a:defRPr sz="5000" kern="1200" cap="all" spc="100" baseline="0">
                <a:solidFill>
                  <a:schemeClr val="tx1">
                    <a:lumMod val="90000"/>
                    <a:lumOff val="10000"/>
                  </a:schemeClr>
                </a:solidFill>
                <a:latin typeface="+mj-lt"/>
                <a:ea typeface="+mj-ea"/>
                <a:cs typeface="+mj-cs"/>
              </a:defRPr>
            </a:lvl1pPr>
          </a:lstStyle>
          <a:p>
            <a:pPr>
              <a:buSzPts val="2800"/>
            </a:pPr>
            <a:r>
              <a:rPr lang="en-US" sz="2800" dirty="0"/>
              <a:t>Explainable AI Results UNET_VIT MODEL - 2</a:t>
            </a:r>
            <a:r>
              <a:rPr lang="en-US" sz="2800" baseline="30000" dirty="0"/>
              <a:t>nd</a:t>
            </a:r>
            <a:r>
              <a:rPr lang="en-US" sz="2800" dirty="0"/>
              <a:t> WORST MODEL</a:t>
            </a:r>
            <a:endParaRPr lang="en-US" dirty="0"/>
          </a:p>
        </p:txBody>
      </p:sp>
      <p:pic>
        <p:nvPicPr>
          <p:cNvPr id="2" name="Picture 1">
            <a:extLst>
              <a:ext uri="{FF2B5EF4-FFF2-40B4-BE49-F238E27FC236}">
                <a16:creationId xmlns:a16="http://schemas.microsoft.com/office/drawing/2014/main" id="{1F9C8601-8ED2-319D-2855-58ED6767B9C4}"/>
              </a:ext>
            </a:extLst>
          </p:cNvPr>
          <p:cNvPicPr>
            <a:picLocks noChangeAspect="1"/>
          </p:cNvPicPr>
          <p:nvPr/>
        </p:nvPicPr>
        <p:blipFill>
          <a:blip r:embed="rId3"/>
          <a:stretch>
            <a:fillRect/>
          </a:stretch>
        </p:blipFill>
        <p:spPr>
          <a:xfrm>
            <a:off x="894898" y="3962399"/>
            <a:ext cx="10287000" cy="2988057"/>
          </a:xfrm>
          <a:prstGeom prst="rect">
            <a:avLst/>
          </a:prstGeom>
        </p:spPr>
      </p:pic>
      <p:pic>
        <p:nvPicPr>
          <p:cNvPr id="7" name="Picture 6">
            <a:extLst>
              <a:ext uri="{FF2B5EF4-FFF2-40B4-BE49-F238E27FC236}">
                <a16:creationId xmlns:a16="http://schemas.microsoft.com/office/drawing/2014/main" id="{5A5F1C70-39F4-BED4-62A0-6629FBB16610}"/>
              </a:ext>
            </a:extLst>
          </p:cNvPr>
          <p:cNvPicPr>
            <a:picLocks noChangeAspect="1"/>
          </p:cNvPicPr>
          <p:nvPr/>
        </p:nvPicPr>
        <p:blipFill>
          <a:blip r:embed="rId4"/>
          <a:stretch>
            <a:fillRect/>
          </a:stretch>
        </p:blipFill>
        <p:spPr>
          <a:xfrm>
            <a:off x="894898" y="956630"/>
            <a:ext cx="10287000" cy="2287159"/>
          </a:xfrm>
          <a:prstGeom prst="rect">
            <a:avLst/>
          </a:prstGeom>
        </p:spPr>
      </p:pic>
    </p:spTree>
    <p:extLst>
      <p:ext uri="{BB962C8B-B14F-4D97-AF65-F5344CB8AC3E}">
        <p14:creationId xmlns:p14="http://schemas.microsoft.com/office/powerpoint/2010/main" val="35884757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89CD8-0940-467C-8413-AD72D93D5114}"/>
              </a:ext>
            </a:extLst>
          </p:cNvPr>
          <p:cNvSpPr>
            <a:spLocks noGrp="1"/>
          </p:cNvSpPr>
          <p:nvPr>
            <p:ph type="title"/>
          </p:nvPr>
        </p:nvSpPr>
        <p:spPr/>
        <p:txBody>
          <a:bodyPr/>
          <a:lstStyle/>
          <a:p>
            <a:r>
              <a:rPr lang="en-GB" dirty="0"/>
              <a:t>Models Selection</a:t>
            </a:r>
          </a:p>
        </p:txBody>
      </p:sp>
      <p:graphicFrame>
        <p:nvGraphicFramePr>
          <p:cNvPr id="6" name="Content Placeholder 5">
            <a:extLst>
              <a:ext uri="{FF2B5EF4-FFF2-40B4-BE49-F238E27FC236}">
                <a16:creationId xmlns:a16="http://schemas.microsoft.com/office/drawing/2014/main" id="{C24B663E-F470-427B-BF01-D64568F982B9}"/>
              </a:ext>
            </a:extLst>
          </p:cNvPr>
          <p:cNvGraphicFramePr>
            <a:graphicFrameLocks noGrp="1"/>
          </p:cNvGraphicFramePr>
          <p:nvPr>
            <p:ph idx="1"/>
          </p:nvPr>
        </p:nvGraphicFramePr>
        <p:xfrm>
          <a:off x="1023936" y="1948374"/>
          <a:ext cx="10033272" cy="4199211"/>
        </p:xfrm>
        <a:graphic>
          <a:graphicData uri="http://schemas.openxmlformats.org/drawingml/2006/table">
            <a:tbl>
              <a:tblPr firstRow="1" bandRow="1">
                <a:tableStyleId>{5C22544A-7EE6-4342-B048-85BDC9FD1C3A}</a:tableStyleId>
              </a:tblPr>
              <a:tblGrid>
                <a:gridCol w="2508318">
                  <a:extLst>
                    <a:ext uri="{9D8B030D-6E8A-4147-A177-3AD203B41FA5}">
                      <a16:colId xmlns:a16="http://schemas.microsoft.com/office/drawing/2014/main" val="3846938124"/>
                    </a:ext>
                  </a:extLst>
                </a:gridCol>
                <a:gridCol w="2508318">
                  <a:extLst>
                    <a:ext uri="{9D8B030D-6E8A-4147-A177-3AD203B41FA5}">
                      <a16:colId xmlns:a16="http://schemas.microsoft.com/office/drawing/2014/main" val="4267537100"/>
                    </a:ext>
                  </a:extLst>
                </a:gridCol>
                <a:gridCol w="2508318">
                  <a:extLst>
                    <a:ext uri="{9D8B030D-6E8A-4147-A177-3AD203B41FA5}">
                      <a16:colId xmlns:a16="http://schemas.microsoft.com/office/drawing/2014/main" val="484908824"/>
                    </a:ext>
                  </a:extLst>
                </a:gridCol>
                <a:gridCol w="2508318">
                  <a:extLst>
                    <a:ext uri="{9D8B030D-6E8A-4147-A177-3AD203B41FA5}">
                      <a16:colId xmlns:a16="http://schemas.microsoft.com/office/drawing/2014/main" val="1418667874"/>
                    </a:ext>
                  </a:extLst>
                </a:gridCol>
              </a:tblGrid>
              <a:tr h="466579">
                <a:tc>
                  <a:txBody>
                    <a:bodyPr/>
                    <a:lstStyle/>
                    <a:p>
                      <a:r>
                        <a:rPr lang="en-GB" sz="2200" dirty="0"/>
                        <a:t>MODEL</a:t>
                      </a:r>
                    </a:p>
                  </a:txBody>
                  <a:tcPr/>
                </a:tc>
                <a:tc>
                  <a:txBody>
                    <a:bodyPr/>
                    <a:lstStyle/>
                    <a:p>
                      <a:r>
                        <a:rPr lang="en-GB" sz="2200" dirty="0"/>
                        <a:t>DICE SCORE</a:t>
                      </a:r>
                    </a:p>
                  </a:txBody>
                  <a:tcPr/>
                </a:tc>
                <a:tc>
                  <a:txBody>
                    <a:bodyPr/>
                    <a:lstStyle/>
                    <a:p>
                      <a:r>
                        <a:rPr lang="en-GB" sz="2200" dirty="0"/>
                        <a:t>IoU</a:t>
                      </a:r>
                    </a:p>
                  </a:txBody>
                  <a:tcPr/>
                </a:tc>
                <a:tc>
                  <a:txBody>
                    <a:bodyPr/>
                    <a:lstStyle/>
                    <a:p>
                      <a:r>
                        <a:rPr lang="en-GB" sz="2200" dirty="0"/>
                        <a:t>ACCURACY</a:t>
                      </a:r>
                    </a:p>
                  </a:txBody>
                  <a:tcPr/>
                </a:tc>
                <a:extLst>
                  <a:ext uri="{0D108BD9-81ED-4DB2-BD59-A6C34878D82A}">
                    <a16:rowId xmlns:a16="http://schemas.microsoft.com/office/drawing/2014/main" val="3917042452"/>
                  </a:ext>
                </a:extLst>
              </a:tr>
              <a:tr h="466579">
                <a:tc>
                  <a:txBody>
                    <a:bodyPr/>
                    <a:lstStyle/>
                    <a:p>
                      <a:r>
                        <a:rPr lang="en-GB" sz="2200" dirty="0"/>
                        <a:t>U-NET</a:t>
                      </a:r>
                    </a:p>
                  </a:txBody>
                  <a:tcPr/>
                </a:tc>
                <a:tc>
                  <a:txBody>
                    <a:bodyPr/>
                    <a:lstStyle/>
                    <a:p>
                      <a:r>
                        <a:rPr lang="en-GB" sz="2200" dirty="0"/>
                        <a:t>0.81846</a:t>
                      </a:r>
                    </a:p>
                  </a:txBody>
                  <a:tcPr/>
                </a:tc>
                <a:tc>
                  <a:txBody>
                    <a:bodyPr/>
                    <a:lstStyle/>
                    <a:p>
                      <a:r>
                        <a:rPr lang="en-GB" sz="2200" dirty="0"/>
                        <a:t>0.7891</a:t>
                      </a:r>
                    </a:p>
                  </a:txBody>
                  <a:tcPr/>
                </a:tc>
                <a:tc>
                  <a:txBody>
                    <a:bodyPr/>
                    <a:lstStyle/>
                    <a:p>
                      <a:r>
                        <a:rPr lang="en-GB" sz="2200" dirty="0"/>
                        <a:t>0.9898</a:t>
                      </a:r>
                    </a:p>
                  </a:txBody>
                  <a:tcPr/>
                </a:tc>
                <a:extLst>
                  <a:ext uri="{0D108BD9-81ED-4DB2-BD59-A6C34878D82A}">
                    <a16:rowId xmlns:a16="http://schemas.microsoft.com/office/drawing/2014/main" val="3375347520"/>
                  </a:ext>
                </a:extLst>
              </a:tr>
              <a:tr h="466579">
                <a:tc>
                  <a:txBody>
                    <a:bodyPr/>
                    <a:lstStyle/>
                    <a:p>
                      <a:r>
                        <a:rPr lang="en-GB" sz="2200" dirty="0"/>
                        <a:t>RESNET</a:t>
                      </a:r>
                    </a:p>
                  </a:txBody>
                  <a:tcPr/>
                </a:tc>
                <a:tc>
                  <a:txBody>
                    <a:bodyPr/>
                    <a:lstStyle/>
                    <a:p>
                      <a:r>
                        <a:rPr lang="en-GB" sz="2200" dirty="0"/>
                        <a:t>0.8854</a:t>
                      </a:r>
                    </a:p>
                  </a:txBody>
                  <a:tcPr/>
                </a:tc>
                <a:tc>
                  <a:txBody>
                    <a:bodyPr/>
                    <a:lstStyle/>
                    <a:p>
                      <a:r>
                        <a:rPr lang="en-GB" sz="2200" dirty="0"/>
                        <a:t>0.8605</a:t>
                      </a:r>
                    </a:p>
                  </a:txBody>
                  <a:tcPr/>
                </a:tc>
                <a:tc>
                  <a:txBody>
                    <a:bodyPr/>
                    <a:lstStyle/>
                    <a:p>
                      <a:r>
                        <a:rPr lang="en-GB" sz="2200" dirty="0"/>
                        <a:t>0.9943</a:t>
                      </a:r>
                    </a:p>
                  </a:txBody>
                  <a:tcPr/>
                </a:tc>
                <a:extLst>
                  <a:ext uri="{0D108BD9-81ED-4DB2-BD59-A6C34878D82A}">
                    <a16:rowId xmlns:a16="http://schemas.microsoft.com/office/drawing/2014/main" val="3139453621"/>
                  </a:ext>
                </a:extLst>
              </a:tr>
              <a:tr h="466579">
                <a:tc>
                  <a:txBody>
                    <a:bodyPr/>
                    <a:lstStyle/>
                    <a:p>
                      <a:r>
                        <a:rPr lang="en-GB" sz="2200" dirty="0"/>
                        <a:t>U-NET_VITs</a:t>
                      </a:r>
                    </a:p>
                  </a:txBody>
                  <a:tcPr/>
                </a:tc>
                <a:tc>
                  <a:txBody>
                    <a:bodyPr/>
                    <a:lstStyle/>
                    <a:p>
                      <a:r>
                        <a:rPr lang="en-GB" sz="2200" dirty="0"/>
                        <a:t>0.78632</a:t>
                      </a:r>
                    </a:p>
                  </a:txBody>
                  <a:tcPr/>
                </a:tc>
                <a:tc>
                  <a:txBody>
                    <a:bodyPr/>
                    <a:lstStyle/>
                    <a:p>
                      <a:r>
                        <a:rPr lang="en-GB" sz="2200" dirty="0"/>
                        <a:t>0.75848</a:t>
                      </a:r>
                    </a:p>
                  </a:txBody>
                  <a:tcPr/>
                </a:tc>
                <a:tc>
                  <a:txBody>
                    <a:bodyPr/>
                    <a:lstStyle/>
                    <a:p>
                      <a:r>
                        <a:rPr lang="en-GB" sz="2200" dirty="0"/>
                        <a:t>0.9876</a:t>
                      </a:r>
                    </a:p>
                  </a:txBody>
                  <a:tcPr/>
                </a:tc>
                <a:extLst>
                  <a:ext uri="{0D108BD9-81ED-4DB2-BD59-A6C34878D82A}">
                    <a16:rowId xmlns:a16="http://schemas.microsoft.com/office/drawing/2014/main" val="395250179"/>
                  </a:ext>
                </a:extLst>
              </a:tr>
              <a:tr h="466579">
                <a:tc>
                  <a:txBody>
                    <a:bodyPr/>
                    <a:lstStyle/>
                    <a:p>
                      <a:r>
                        <a:rPr lang="en-GB" sz="2200" dirty="0"/>
                        <a:t>U-NET_GATs</a:t>
                      </a:r>
                    </a:p>
                  </a:txBody>
                  <a:tcPr/>
                </a:tc>
                <a:tc>
                  <a:txBody>
                    <a:bodyPr/>
                    <a:lstStyle/>
                    <a:p>
                      <a:r>
                        <a:rPr lang="en-GB" sz="2200" dirty="0"/>
                        <a:t>0.0009</a:t>
                      </a:r>
                    </a:p>
                  </a:txBody>
                  <a:tcPr/>
                </a:tc>
                <a:tc>
                  <a:txBody>
                    <a:bodyPr/>
                    <a:lstStyle/>
                    <a:p>
                      <a:r>
                        <a:rPr lang="en-GB" sz="2200" dirty="0"/>
                        <a:t>0.0022</a:t>
                      </a:r>
                    </a:p>
                  </a:txBody>
                  <a:tcPr/>
                </a:tc>
                <a:tc>
                  <a:txBody>
                    <a:bodyPr/>
                    <a:lstStyle/>
                    <a:p>
                      <a:r>
                        <a:rPr lang="en-GB" sz="2200" dirty="0"/>
                        <a:t>0.7844</a:t>
                      </a:r>
                    </a:p>
                  </a:txBody>
                  <a:tcPr/>
                </a:tc>
                <a:extLst>
                  <a:ext uri="{0D108BD9-81ED-4DB2-BD59-A6C34878D82A}">
                    <a16:rowId xmlns:a16="http://schemas.microsoft.com/office/drawing/2014/main" val="20523627"/>
                  </a:ext>
                </a:extLst>
              </a:tr>
              <a:tr h="466579">
                <a:tc>
                  <a:txBody>
                    <a:bodyPr/>
                    <a:lstStyle/>
                    <a:p>
                      <a:r>
                        <a:rPr lang="en-GB" sz="2200" dirty="0"/>
                        <a:t>RNN_CNN_KD</a:t>
                      </a:r>
                    </a:p>
                  </a:txBody>
                  <a:tcPr/>
                </a:tc>
                <a:tc>
                  <a:txBody>
                    <a:bodyPr/>
                    <a:lstStyle/>
                    <a:p>
                      <a:r>
                        <a:rPr lang="en-GB" sz="2200" dirty="0"/>
                        <a:t>0.9185</a:t>
                      </a:r>
                    </a:p>
                  </a:txBody>
                  <a:tcPr/>
                </a:tc>
                <a:tc>
                  <a:txBody>
                    <a:bodyPr/>
                    <a:lstStyle/>
                    <a:p>
                      <a:r>
                        <a:rPr lang="en-GB" sz="2200" dirty="0"/>
                        <a:t>0.9637</a:t>
                      </a:r>
                    </a:p>
                  </a:txBody>
                  <a:tcPr/>
                </a:tc>
                <a:tc>
                  <a:txBody>
                    <a:bodyPr/>
                    <a:lstStyle/>
                    <a:p>
                      <a:r>
                        <a:rPr lang="en-GB" sz="2200" dirty="0"/>
                        <a:t>0.9815</a:t>
                      </a:r>
                    </a:p>
                  </a:txBody>
                  <a:tcPr/>
                </a:tc>
                <a:extLst>
                  <a:ext uri="{0D108BD9-81ED-4DB2-BD59-A6C34878D82A}">
                    <a16:rowId xmlns:a16="http://schemas.microsoft.com/office/drawing/2014/main" val="1876592257"/>
                  </a:ext>
                </a:extLst>
              </a:tr>
              <a:tr h="466579">
                <a:tc>
                  <a:txBody>
                    <a:bodyPr/>
                    <a:lstStyle/>
                    <a:p>
                      <a:r>
                        <a:rPr lang="en-GB" sz="2200" dirty="0"/>
                        <a:t>ATT_CNN_KD</a:t>
                      </a:r>
                    </a:p>
                  </a:txBody>
                  <a:tcPr/>
                </a:tc>
                <a:tc>
                  <a:txBody>
                    <a:bodyPr/>
                    <a:lstStyle/>
                    <a:p>
                      <a:r>
                        <a:rPr lang="en-GB" sz="2200" dirty="0"/>
                        <a:t>0.9186</a:t>
                      </a:r>
                    </a:p>
                  </a:txBody>
                  <a:tcPr/>
                </a:tc>
                <a:tc>
                  <a:txBody>
                    <a:bodyPr/>
                    <a:lstStyle/>
                    <a:p>
                      <a:r>
                        <a:rPr lang="en-GB" sz="2200" dirty="0"/>
                        <a:t>0.9638</a:t>
                      </a:r>
                    </a:p>
                  </a:txBody>
                  <a:tcPr/>
                </a:tc>
                <a:tc>
                  <a:txBody>
                    <a:bodyPr/>
                    <a:lstStyle/>
                    <a:p>
                      <a:r>
                        <a:rPr lang="en-GB" sz="2200" dirty="0"/>
                        <a:t>0.9816</a:t>
                      </a:r>
                    </a:p>
                  </a:txBody>
                  <a:tcPr/>
                </a:tc>
                <a:extLst>
                  <a:ext uri="{0D108BD9-81ED-4DB2-BD59-A6C34878D82A}">
                    <a16:rowId xmlns:a16="http://schemas.microsoft.com/office/drawing/2014/main" val="1769404633"/>
                  </a:ext>
                </a:extLst>
              </a:tr>
              <a:tr h="466579">
                <a:tc>
                  <a:txBody>
                    <a:bodyPr/>
                    <a:lstStyle/>
                    <a:p>
                      <a:r>
                        <a:rPr lang="en-GB" sz="2200" dirty="0"/>
                        <a:t>U-NET++_CNN_KD</a:t>
                      </a:r>
                    </a:p>
                  </a:txBody>
                  <a:tcPr/>
                </a:tc>
                <a:tc>
                  <a:txBody>
                    <a:bodyPr/>
                    <a:lstStyle/>
                    <a:p>
                      <a:r>
                        <a:rPr lang="en-GB" sz="2200" dirty="0"/>
                        <a:t>0.9183</a:t>
                      </a:r>
                    </a:p>
                  </a:txBody>
                  <a:tcPr/>
                </a:tc>
                <a:tc>
                  <a:txBody>
                    <a:bodyPr/>
                    <a:lstStyle/>
                    <a:p>
                      <a:r>
                        <a:rPr lang="en-GB" sz="2200" dirty="0"/>
                        <a:t>0.9634</a:t>
                      </a:r>
                    </a:p>
                  </a:txBody>
                  <a:tcPr/>
                </a:tc>
                <a:tc>
                  <a:txBody>
                    <a:bodyPr/>
                    <a:lstStyle/>
                    <a:p>
                      <a:r>
                        <a:rPr lang="en-GB" sz="2200" dirty="0"/>
                        <a:t>0.9813</a:t>
                      </a:r>
                    </a:p>
                  </a:txBody>
                  <a:tcPr/>
                </a:tc>
                <a:extLst>
                  <a:ext uri="{0D108BD9-81ED-4DB2-BD59-A6C34878D82A}">
                    <a16:rowId xmlns:a16="http://schemas.microsoft.com/office/drawing/2014/main" val="2912035777"/>
                  </a:ext>
                </a:extLst>
              </a:tr>
              <a:tr h="466579">
                <a:tc>
                  <a:txBody>
                    <a:bodyPr/>
                    <a:lstStyle/>
                    <a:p>
                      <a:r>
                        <a:rPr lang="en-GB" sz="2200" dirty="0"/>
                        <a:t>U-NET++_KD</a:t>
                      </a:r>
                    </a:p>
                  </a:txBody>
                  <a:tcPr/>
                </a:tc>
                <a:tc>
                  <a:txBody>
                    <a:bodyPr/>
                    <a:lstStyle/>
                    <a:p>
                      <a:r>
                        <a:rPr lang="en-GB" sz="2200" dirty="0"/>
                        <a:t>0.9799</a:t>
                      </a:r>
                    </a:p>
                  </a:txBody>
                  <a:tcPr/>
                </a:tc>
                <a:tc>
                  <a:txBody>
                    <a:bodyPr/>
                    <a:lstStyle/>
                    <a:p>
                      <a:r>
                        <a:rPr lang="en-GB" sz="2200" dirty="0"/>
                        <a:t>0.9609</a:t>
                      </a:r>
                    </a:p>
                  </a:txBody>
                  <a:tcPr/>
                </a:tc>
                <a:tc>
                  <a:txBody>
                    <a:bodyPr/>
                    <a:lstStyle/>
                    <a:p>
                      <a:r>
                        <a:rPr lang="en-GB" sz="2200" dirty="0"/>
                        <a:t>0.9801</a:t>
                      </a:r>
                    </a:p>
                  </a:txBody>
                  <a:tcPr/>
                </a:tc>
                <a:extLst>
                  <a:ext uri="{0D108BD9-81ED-4DB2-BD59-A6C34878D82A}">
                    <a16:rowId xmlns:a16="http://schemas.microsoft.com/office/drawing/2014/main" val="2661908896"/>
                  </a:ext>
                </a:extLst>
              </a:tr>
            </a:tbl>
          </a:graphicData>
        </a:graphic>
      </p:graphicFrame>
      <p:sp>
        <p:nvSpPr>
          <p:cNvPr id="4" name="Slide Number Placeholder 3">
            <a:extLst>
              <a:ext uri="{FF2B5EF4-FFF2-40B4-BE49-F238E27FC236}">
                <a16:creationId xmlns:a16="http://schemas.microsoft.com/office/drawing/2014/main" id="{920216F5-08C8-4C46-9F5D-93059E63F549}"/>
              </a:ext>
            </a:extLst>
          </p:cNvPr>
          <p:cNvSpPr>
            <a:spLocks noGrp="1"/>
          </p:cNvSpPr>
          <p:nvPr>
            <p:ph type="sldNum" sz="quarter" idx="12"/>
          </p:nvPr>
        </p:nvSpPr>
        <p:spPr/>
        <p:txBody>
          <a:bodyPr/>
          <a:lstStyle/>
          <a:p>
            <a:fld id="{0428C338-E682-4B46-9632-D57B5813D090}" type="slidenum">
              <a:rPr lang="en-US" smtClean="0"/>
              <a:t>17</a:t>
            </a:fld>
            <a:endParaRPr lang="en-US"/>
          </a:p>
        </p:txBody>
      </p:sp>
    </p:spTree>
    <p:extLst>
      <p:ext uri="{BB962C8B-B14F-4D97-AF65-F5344CB8AC3E}">
        <p14:creationId xmlns:p14="http://schemas.microsoft.com/office/powerpoint/2010/main" val="11749431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Results and Evaluation</a:t>
            </a:r>
          </a:p>
        </p:txBody>
      </p:sp>
      <p:pic>
        <p:nvPicPr>
          <p:cNvPr id="13" name="Picture 12">
            <a:extLst>
              <a:ext uri="{FF2B5EF4-FFF2-40B4-BE49-F238E27FC236}">
                <a16:creationId xmlns:a16="http://schemas.microsoft.com/office/drawing/2014/main" id="{06A97BA3-AC82-A780-E88F-8580886B07F9}"/>
              </a:ext>
            </a:extLst>
          </p:cNvPr>
          <p:cNvPicPr>
            <a:picLocks noChangeAspect="1"/>
          </p:cNvPicPr>
          <p:nvPr/>
        </p:nvPicPr>
        <p:blipFill>
          <a:blip r:embed="rId2"/>
          <a:stretch>
            <a:fillRect/>
          </a:stretch>
        </p:blipFill>
        <p:spPr>
          <a:xfrm>
            <a:off x="1702191" y="1598539"/>
            <a:ext cx="8707901" cy="509617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System Demonstration</a:t>
            </a:r>
          </a:p>
        </p:txBody>
      </p:sp>
      <p:sp>
        <p:nvSpPr>
          <p:cNvPr id="3" name="Content Placeholder 2"/>
          <p:cNvSpPr>
            <a:spLocks noGrp="1"/>
          </p:cNvSpPr>
          <p:nvPr>
            <p:ph idx="1"/>
          </p:nvPr>
        </p:nvSpPr>
        <p:spPr>
          <a:xfrm>
            <a:off x="1024128" y="1885071"/>
            <a:ext cx="9720071" cy="4424289"/>
          </a:xfrm>
        </p:spPr>
        <p:txBody>
          <a:bodyPr/>
          <a:lstStyle/>
          <a:p>
            <a:r>
              <a:rPr lang="en-GB" dirty="0"/>
              <a:t>Below are demo interface screenshots on how our model, once deployed would be applied in a real-world clinical setting:</a:t>
            </a:r>
          </a:p>
          <a:p>
            <a:endParaRPr dirty="0"/>
          </a:p>
        </p:txBody>
      </p:sp>
      <p:pic>
        <p:nvPicPr>
          <p:cNvPr id="7" name="Picture 6">
            <a:extLst>
              <a:ext uri="{FF2B5EF4-FFF2-40B4-BE49-F238E27FC236}">
                <a16:creationId xmlns:a16="http://schemas.microsoft.com/office/drawing/2014/main" id="{285D2794-EA16-7A9A-D50A-911F57A54A8B}"/>
              </a:ext>
            </a:extLst>
          </p:cNvPr>
          <p:cNvPicPr>
            <a:picLocks noChangeAspect="1"/>
          </p:cNvPicPr>
          <p:nvPr/>
        </p:nvPicPr>
        <p:blipFill>
          <a:blip r:embed="rId2"/>
          <a:stretch>
            <a:fillRect/>
          </a:stretch>
        </p:blipFill>
        <p:spPr>
          <a:xfrm>
            <a:off x="260903" y="3085190"/>
            <a:ext cx="3352116" cy="3114088"/>
          </a:xfrm>
          <a:prstGeom prst="rect">
            <a:avLst/>
          </a:prstGeom>
        </p:spPr>
      </p:pic>
      <p:pic>
        <p:nvPicPr>
          <p:cNvPr id="8" name="Picture 7">
            <a:extLst>
              <a:ext uri="{FF2B5EF4-FFF2-40B4-BE49-F238E27FC236}">
                <a16:creationId xmlns:a16="http://schemas.microsoft.com/office/drawing/2014/main" id="{36235371-2CD9-4881-73DE-0137993DAFA3}"/>
              </a:ext>
            </a:extLst>
          </p:cNvPr>
          <p:cNvPicPr>
            <a:picLocks noChangeAspect="1"/>
          </p:cNvPicPr>
          <p:nvPr/>
        </p:nvPicPr>
        <p:blipFill>
          <a:blip r:embed="rId3"/>
          <a:stretch>
            <a:fillRect/>
          </a:stretch>
        </p:blipFill>
        <p:spPr>
          <a:xfrm>
            <a:off x="4302503" y="3085190"/>
            <a:ext cx="2670279" cy="3114088"/>
          </a:xfrm>
          <a:prstGeom prst="rect">
            <a:avLst/>
          </a:prstGeom>
        </p:spPr>
      </p:pic>
      <p:pic>
        <p:nvPicPr>
          <p:cNvPr id="9" name="Picture 8">
            <a:extLst>
              <a:ext uri="{FF2B5EF4-FFF2-40B4-BE49-F238E27FC236}">
                <a16:creationId xmlns:a16="http://schemas.microsoft.com/office/drawing/2014/main" id="{C6157725-FB09-7986-AF16-33375EEC672E}"/>
              </a:ext>
            </a:extLst>
          </p:cNvPr>
          <p:cNvPicPr>
            <a:picLocks noChangeAspect="1"/>
          </p:cNvPicPr>
          <p:nvPr/>
        </p:nvPicPr>
        <p:blipFill>
          <a:blip r:embed="rId4"/>
          <a:stretch>
            <a:fillRect/>
          </a:stretch>
        </p:blipFill>
        <p:spPr>
          <a:xfrm>
            <a:off x="7867727" y="3085190"/>
            <a:ext cx="3913971" cy="311408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Intellectual Property</a:t>
            </a:r>
            <a:r>
              <a:rPr lang="en-US" dirty="0"/>
              <a:t> of system</a:t>
            </a:r>
            <a:endParaRPr dirty="0"/>
          </a:p>
        </p:txBody>
      </p:sp>
      <p:graphicFrame>
        <p:nvGraphicFramePr>
          <p:cNvPr id="4" name="Content Placeholder 3">
            <a:extLst>
              <a:ext uri="{FF2B5EF4-FFF2-40B4-BE49-F238E27FC236}">
                <a16:creationId xmlns:a16="http://schemas.microsoft.com/office/drawing/2014/main" id="{4AA672D8-6538-CC78-2374-3F87D2602F11}"/>
              </a:ext>
            </a:extLst>
          </p:cNvPr>
          <p:cNvGraphicFramePr>
            <a:graphicFrameLocks noGrp="1"/>
          </p:cNvGraphicFramePr>
          <p:nvPr>
            <p:ph idx="1"/>
            <p:extLst>
              <p:ext uri="{D42A27DB-BD31-4B8C-83A1-F6EECF244321}">
                <p14:modId xmlns:p14="http://schemas.microsoft.com/office/powerpoint/2010/main" val="3404837475"/>
              </p:ext>
            </p:extLst>
          </p:nvPr>
        </p:nvGraphicFramePr>
        <p:xfrm>
          <a:off x="1024128" y="1847815"/>
          <a:ext cx="9720072" cy="4511040"/>
        </p:xfrm>
        <a:graphic>
          <a:graphicData uri="http://schemas.openxmlformats.org/drawingml/2006/table">
            <a:tbl>
              <a:tblPr firstRow="1" bandRow="1">
                <a:tableStyleId>{5C22544A-7EE6-4342-B048-85BDC9FD1C3A}</a:tableStyleId>
              </a:tblPr>
              <a:tblGrid>
                <a:gridCol w="4860036">
                  <a:extLst>
                    <a:ext uri="{9D8B030D-6E8A-4147-A177-3AD203B41FA5}">
                      <a16:colId xmlns:a16="http://schemas.microsoft.com/office/drawing/2014/main" val="4220926432"/>
                    </a:ext>
                  </a:extLst>
                </a:gridCol>
                <a:gridCol w="4860036">
                  <a:extLst>
                    <a:ext uri="{9D8B030D-6E8A-4147-A177-3AD203B41FA5}">
                      <a16:colId xmlns:a16="http://schemas.microsoft.com/office/drawing/2014/main" val="2199058208"/>
                    </a:ext>
                  </a:extLst>
                </a:gridCol>
              </a:tblGrid>
              <a:tr h="365270">
                <a:tc>
                  <a:txBody>
                    <a:bodyPr/>
                    <a:lstStyle/>
                    <a:p>
                      <a:r>
                        <a:rPr lang="en-US" sz="2200" dirty="0"/>
                        <a:t>Protection Type</a:t>
                      </a:r>
                    </a:p>
                  </a:txBody>
                  <a:tcPr/>
                </a:tc>
                <a:tc>
                  <a:txBody>
                    <a:bodyPr/>
                    <a:lstStyle/>
                    <a:p>
                      <a:r>
                        <a:rPr lang="en-US" sz="2200" dirty="0"/>
                        <a:t>Element in System</a:t>
                      </a:r>
                    </a:p>
                  </a:txBody>
                  <a:tcPr/>
                </a:tc>
                <a:extLst>
                  <a:ext uri="{0D108BD9-81ED-4DB2-BD59-A6C34878D82A}">
                    <a16:rowId xmlns:a16="http://schemas.microsoft.com/office/drawing/2014/main" val="3796626509"/>
                  </a:ext>
                </a:extLst>
              </a:tr>
              <a:tr h="365270">
                <a:tc>
                  <a:txBody>
                    <a:bodyPr/>
                    <a:lstStyle/>
                    <a:p>
                      <a:r>
                        <a:rPr lang="en-US" sz="2200" dirty="0"/>
                        <a:t>Patent</a:t>
                      </a:r>
                    </a:p>
                  </a:txBody>
                  <a:tcPr/>
                </a:tc>
                <a:tc>
                  <a:txBody>
                    <a:bodyPr/>
                    <a:lstStyle/>
                    <a:p>
                      <a:r>
                        <a:rPr lang="en-US" sz="2200" dirty="0"/>
                        <a:t>AI algorithms and techniques used</a:t>
                      </a:r>
                    </a:p>
                  </a:txBody>
                  <a:tcPr/>
                </a:tc>
                <a:extLst>
                  <a:ext uri="{0D108BD9-81ED-4DB2-BD59-A6C34878D82A}">
                    <a16:rowId xmlns:a16="http://schemas.microsoft.com/office/drawing/2014/main" val="4247972635"/>
                  </a:ext>
                </a:extLst>
              </a:tr>
              <a:tr h="365270">
                <a:tc>
                  <a:txBody>
                    <a:bodyPr/>
                    <a:lstStyle/>
                    <a:p>
                      <a:endParaRPr lang="en-US" sz="2200" dirty="0"/>
                    </a:p>
                  </a:txBody>
                  <a:tcPr/>
                </a:tc>
                <a:tc>
                  <a:txBody>
                    <a:bodyPr/>
                    <a:lstStyle/>
                    <a:p>
                      <a:pPr>
                        <a:buFont typeface="Arial" panose="020B0604020202020204" pitchFamily="34" charset="0"/>
                        <a:buNone/>
                      </a:pPr>
                      <a:r>
                        <a:rPr lang="en-US" sz="2200" dirty="0"/>
                        <a:t>Software Code Implemented</a:t>
                      </a:r>
                    </a:p>
                  </a:txBody>
                  <a:tcPr/>
                </a:tc>
                <a:extLst>
                  <a:ext uri="{0D108BD9-81ED-4DB2-BD59-A6C34878D82A}">
                    <a16:rowId xmlns:a16="http://schemas.microsoft.com/office/drawing/2014/main" val="206833504"/>
                  </a:ext>
                </a:extLst>
              </a:tr>
              <a:tr h="873034">
                <a:tc>
                  <a:txBody>
                    <a:bodyPr/>
                    <a:lstStyle/>
                    <a:p>
                      <a:endParaRPr lang="en-US" sz="2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t>System architecture (ensures that AI algorithms seamlessly integrate within the hospital systems through the use of APIs)</a:t>
                      </a:r>
                    </a:p>
                  </a:txBody>
                  <a:tcPr/>
                </a:tc>
                <a:extLst>
                  <a:ext uri="{0D108BD9-81ED-4DB2-BD59-A6C34878D82A}">
                    <a16:rowId xmlns:a16="http://schemas.microsoft.com/office/drawing/2014/main" val="1306729062"/>
                  </a:ext>
                </a:extLst>
              </a:tr>
              <a:tr h="365270">
                <a:tc>
                  <a:txBody>
                    <a:bodyPr/>
                    <a:lstStyle/>
                    <a:p>
                      <a:r>
                        <a:rPr lang="en-US" sz="2200" dirty="0"/>
                        <a:t>Copyright</a:t>
                      </a:r>
                    </a:p>
                  </a:txBody>
                  <a:tcPr/>
                </a:tc>
                <a:tc>
                  <a:txBody>
                    <a:bodyPr/>
                    <a:lstStyle/>
                    <a:p>
                      <a:r>
                        <a:rPr lang="en-US" sz="2200" dirty="0"/>
                        <a:t>Source code</a:t>
                      </a:r>
                    </a:p>
                  </a:txBody>
                  <a:tcPr/>
                </a:tc>
                <a:extLst>
                  <a:ext uri="{0D108BD9-81ED-4DB2-BD59-A6C34878D82A}">
                    <a16:rowId xmlns:a16="http://schemas.microsoft.com/office/drawing/2014/main" val="3729811649"/>
                  </a:ext>
                </a:extLst>
              </a:tr>
              <a:tr h="365270">
                <a:tc>
                  <a:txBody>
                    <a:bodyPr/>
                    <a:lstStyle/>
                    <a:p>
                      <a:endParaRPr lang="en-US" sz="2200"/>
                    </a:p>
                  </a:txBody>
                  <a:tcPr/>
                </a:tc>
                <a:tc>
                  <a:txBody>
                    <a:bodyPr/>
                    <a:lstStyle/>
                    <a:p>
                      <a:r>
                        <a:rPr lang="en-US" sz="2200" dirty="0"/>
                        <a:t>UI design</a:t>
                      </a:r>
                    </a:p>
                  </a:txBody>
                  <a:tcPr/>
                </a:tc>
                <a:extLst>
                  <a:ext uri="{0D108BD9-81ED-4DB2-BD59-A6C34878D82A}">
                    <a16:rowId xmlns:a16="http://schemas.microsoft.com/office/drawing/2014/main" val="1128341530"/>
                  </a:ext>
                </a:extLst>
              </a:tr>
              <a:tr h="365270">
                <a:tc>
                  <a:txBody>
                    <a:bodyPr/>
                    <a:lstStyle/>
                    <a:p>
                      <a:endParaRPr lang="en-US" sz="2200" dirty="0"/>
                    </a:p>
                  </a:txBody>
                  <a:tcPr/>
                </a:tc>
                <a:tc>
                  <a:txBody>
                    <a:bodyPr/>
                    <a:lstStyle/>
                    <a:p>
                      <a:r>
                        <a:rPr lang="en-US" sz="2200" dirty="0"/>
                        <a:t>Associated Documentation</a:t>
                      </a:r>
                    </a:p>
                  </a:txBody>
                  <a:tcPr/>
                </a:tc>
                <a:extLst>
                  <a:ext uri="{0D108BD9-81ED-4DB2-BD59-A6C34878D82A}">
                    <a16:rowId xmlns:a16="http://schemas.microsoft.com/office/drawing/2014/main" val="3763918918"/>
                  </a:ext>
                </a:extLst>
              </a:tr>
              <a:tr h="365270">
                <a:tc>
                  <a:txBody>
                    <a:bodyPr/>
                    <a:lstStyle/>
                    <a:p>
                      <a:r>
                        <a:rPr lang="en-US" sz="2200" dirty="0"/>
                        <a:t>Trademarks</a:t>
                      </a:r>
                    </a:p>
                  </a:txBody>
                  <a:tcPr/>
                </a:tc>
                <a:tc>
                  <a:txBody>
                    <a:bodyPr/>
                    <a:lstStyle/>
                    <a:p>
                      <a:r>
                        <a:rPr lang="en-US" sz="2200" dirty="0"/>
                        <a:t>System/Brand name</a:t>
                      </a:r>
                    </a:p>
                  </a:txBody>
                  <a:tcPr/>
                </a:tc>
                <a:extLst>
                  <a:ext uri="{0D108BD9-81ED-4DB2-BD59-A6C34878D82A}">
                    <a16:rowId xmlns:a16="http://schemas.microsoft.com/office/drawing/2014/main" val="3688775309"/>
                  </a:ext>
                </a:extLst>
              </a:tr>
              <a:tr h="365270">
                <a:tc>
                  <a:txBody>
                    <a:bodyPr/>
                    <a:lstStyle/>
                    <a:p>
                      <a:endParaRPr lang="en-US" sz="2200"/>
                    </a:p>
                  </a:txBody>
                  <a:tcPr/>
                </a:tc>
                <a:tc>
                  <a:txBody>
                    <a:bodyPr/>
                    <a:lstStyle/>
                    <a:p>
                      <a:r>
                        <a:rPr lang="en-US" sz="2200" dirty="0"/>
                        <a:t>System/Brand Logo</a:t>
                      </a:r>
                    </a:p>
                  </a:txBody>
                  <a:tcPr/>
                </a:tc>
                <a:extLst>
                  <a:ext uri="{0D108BD9-81ED-4DB2-BD59-A6C34878D82A}">
                    <a16:rowId xmlns:a16="http://schemas.microsoft.com/office/drawing/2014/main" val="26700086"/>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52">
          <a:extLst>
            <a:ext uri="{FF2B5EF4-FFF2-40B4-BE49-F238E27FC236}">
              <a16:creationId xmlns:a16="http://schemas.microsoft.com/office/drawing/2014/main" id="{9000111C-2174-C10A-79D5-67F583ACF19E}"/>
            </a:ext>
          </a:extLst>
        </p:cNvPr>
        <p:cNvGrpSpPr/>
        <p:nvPr/>
      </p:nvGrpSpPr>
      <p:grpSpPr>
        <a:xfrm>
          <a:off x="0" y="0"/>
          <a:ext cx="0" cy="0"/>
          <a:chOff x="0" y="0"/>
          <a:chExt cx="0" cy="0"/>
        </a:xfrm>
      </p:grpSpPr>
      <p:sp>
        <p:nvSpPr>
          <p:cNvPr id="153" name="Google Shape;153;p10">
            <a:extLst>
              <a:ext uri="{FF2B5EF4-FFF2-40B4-BE49-F238E27FC236}">
                <a16:creationId xmlns:a16="http://schemas.microsoft.com/office/drawing/2014/main" id="{34B10CF3-0F00-C01C-8AB4-55B2C0C21C67}"/>
              </a:ext>
            </a:extLst>
          </p:cNvPr>
          <p:cNvSpPr txBox="1">
            <a:spLocks noGrp="1"/>
          </p:cNvSpPr>
          <p:nvPr>
            <p:ph type="title"/>
          </p:nvPr>
        </p:nvSpPr>
        <p:spPr>
          <a:xfrm>
            <a:off x="1981200" y="381000"/>
            <a:ext cx="8077200" cy="370042"/>
          </a:xfrm>
          <a:prstGeom prst="rect">
            <a:avLst/>
          </a:prstGeom>
          <a:noFill/>
          <a:ln>
            <a:noFill/>
          </a:ln>
        </p:spPr>
        <p:txBody>
          <a:bodyPr spcFirstLastPara="1" wrap="square" lIns="91425" tIns="45700" rIns="91425" bIns="45700" anchor="ctr" anchorCtr="0">
            <a:normAutofit fontScale="90000"/>
          </a:bodyPr>
          <a:lstStyle/>
          <a:p>
            <a:pPr>
              <a:buSzPct val="100000"/>
            </a:pPr>
            <a:r>
              <a:rPr lang="en-US" dirty="0"/>
              <a:t>Conclusions and limitations</a:t>
            </a:r>
            <a:endParaRPr dirty="0"/>
          </a:p>
        </p:txBody>
      </p:sp>
      <p:sp>
        <p:nvSpPr>
          <p:cNvPr id="154" name="Google Shape;154;p10">
            <a:extLst>
              <a:ext uri="{FF2B5EF4-FFF2-40B4-BE49-F238E27FC236}">
                <a16:creationId xmlns:a16="http://schemas.microsoft.com/office/drawing/2014/main" id="{652664E3-DD5D-95C9-04BF-E3AEB8D852EB}"/>
              </a:ext>
            </a:extLst>
          </p:cNvPr>
          <p:cNvSpPr txBox="1">
            <a:spLocks noGrp="1"/>
          </p:cNvSpPr>
          <p:nvPr>
            <p:ph idx="1"/>
          </p:nvPr>
        </p:nvSpPr>
        <p:spPr>
          <a:xfrm>
            <a:off x="242595" y="1489644"/>
            <a:ext cx="5853405" cy="5127315"/>
          </a:xfrm>
          <a:prstGeom prst="rect">
            <a:avLst/>
          </a:prstGeom>
          <a:noFill/>
          <a:ln>
            <a:noFill/>
          </a:ln>
        </p:spPr>
        <p:txBody>
          <a:bodyPr spcFirstLastPara="1" wrap="square" lIns="91425" tIns="45700" rIns="91425" bIns="45700" anchor="t" anchorCtr="0">
            <a:normAutofit/>
          </a:bodyPr>
          <a:lstStyle/>
          <a:p>
            <a:pPr marL="342900" indent="-342900">
              <a:spcBef>
                <a:spcPts val="0"/>
              </a:spcBef>
            </a:pPr>
            <a:r>
              <a:rPr lang="en-US" b="1" dirty="0"/>
              <a:t>Conclusions </a:t>
            </a:r>
            <a:endParaRPr dirty="0"/>
          </a:p>
          <a:p>
            <a:pPr>
              <a:buFont typeface="Wingdings" panose="05000000000000000000" pitchFamily="2" charset="2"/>
              <a:buChar char="Ø"/>
            </a:pPr>
            <a:r>
              <a:rPr lang="en-US" dirty="0"/>
              <a:t>Our project demonstrates the great potential of Artificial Intelligence (AI) in transforming ophthalmology by providing an affordable and efficient AMD detection system. </a:t>
            </a:r>
          </a:p>
          <a:p>
            <a:pPr>
              <a:buFont typeface="Wingdings" panose="05000000000000000000" pitchFamily="2" charset="2"/>
              <a:buChar char="Ø"/>
            </a:pPr>
            <a:r>
              <a:rPr lang="en-US" dirty="0"/>
              <a:t>The integration of Graph Attention Mechanisms, self-routing capsule networks, and knowledge distillation helped us develop a model with robust feature extraction. </a:t>
            </a:r>
          </a:p>
          <a:p>
            <a:pPr>
              <a:buFont typeface="Wingdings" panose="05000000000000000000" pitchFamily="2" charset="2"/>
              <a:buChar char="Ø"/>
            </a:pPr>
            <a:r>
              <a:rPr lang="en-US" dirty="0"/>
              <a:t>Future work will focus on enhancing model generalization by increasing dataset diversity and optimizing the model’s efficiency to contribute to the widespread adoption of AI in ophthalmology.</a:t>
            </a:r>
            <a:endParaRPr lang="en-US" b="1" dirty="0"/>
          </a:p>
          <a:p>
            <a:pPr marL="342900" indent="-342900"/>
            <a:endParaRPr dirty="0"/>
          </a:p>
          <a:p>
            <a:pPr marL="0" indent="0">
              <a:buNone/>
            </a:pPr>
            <a:endParaRPr dirty="0"/>
          </a:p>
        </p:txBody>
      </p:sp>
      <p:sp>
        <p:nvSpPr>
          <p:cNvPr id="2" name="Google Shape;160;p11">
            <a:extLst>
              <a:ext uri="{FF2B5EF4-FFF2-40B4-BE49-F238E27FC236}">
                <a16:creationId xmlns:a16="http://schemas.microsoft.com/office/drawing/2014/main" id="{F8D08623-4698-3D9C-4B3E-E30D02782B83}"/>
              </a:ext>
            </a:extLst>
          </p:cNvPr>
          <p:cNvSpPr txBox="1">
            <a:spLocks/>
          </p:cNvSpPr>
          <p:nvPr/>
        </p:nvSpPr>
        <p:spPr>
          <a:xfrm>
            <a:off x="6410132" y="1489644"/>
            <a:ext cx="5539273" cy="5127315"/>
          </a:xfrm>
          <a:prstGeom prst="rect">
            <a:avLst/>
          </a:prstGeom>
          <a:noFill/>
          <a:ln>
            <a:noFill/>
          </a:ln>
        </p:spPr>
        <p:txBody>
          <a:bodyPr spcFirstLastPara="1" vert="horz" wrap="square" lIns="91425" tIns="45700" rIns="91425" bIns="45700" rtlCol="0" anchor="t" anchorCtr="0">
            <a:normAutofit fontScale="85000" lnSpcReduction="20000"/>
          </a:bodyPr>
          <a:lst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a:lstStyle>
          <a:p>
            <a:pPr marL="342900" indent="-342900">
              <a:spcBef>
                <a:spcPts val="0"/>
              </a:spcBef>
            </a:pPr>
            <a:r>
              <a:rPr lang="en-US" b="1" dirty="0"/>
              <a:t>Limitations </a:t>
            </a:r>
          </a:p>
          <a:p>
            <a:pPr>
              <a:buFont typeface="Wingdings" panose="05000000000000000000" pitchFamily="2" charset="2"/>
              <a:buChar char="Ø"/>
            </a:pPr>
            <a:r>
              <a:rPr lang="en-US" dirty="0"/>
              <a:t>High computational complexity, sensitivity to graph structure, and over-smoothing in deep layers.</a:t>
            </a:r>
          </a:p>
          <a:p>
            <a:pPr>
              <a:buFont typeface="Wingdings" panose="05000000000000000000" pitchFamily="2" charset="2"/>
              <a:buChar char="Ø"/>
            </a:pPr>
            <a:r>
              <a:rPr lang="en-US" dirty="0"/>
              <a:t>High memory usage, complexity in tuning routing, and limited scalability for large images.</a:t>
            </a:r>
          </a:p>
          <a:p>
            <a:pPr>
              <a:spcBef>
                <a:spcPts val="0"/>
              </a:spcBef>
              <a:buFont typeface="Wingdings" panose="05000000000000000000" pitchFamily="2" charset="2"/>
              <a:buChar char="Ø"/>
            </a:pPr>
            <a:endParaRPr lang="en-US" dirty="0"/>
          </a:p>
          <a:p>
            <a:pPr>
              <a:spcBef>
                <a:spcPts val="0"/>
              </a:spcBef>
              <a:buFont typeface="Wingdings" panose="05000000000000000000" pitchFamily="2" charset="2"/>
              <a:buChar char="Ø"/>
            </a:pPr>
            <a:r>
              <a:rPr lang="en-US" dirty="0"/>
              <a:t>Because Capsule Networks struggle to scale to very large inputs, we had to downsample the images, potentially losing fine details critical for AMD diagnosis</a:t>
            </a:r>
          </a:p>
          <a:p>
            <a:pPr>
              <a:spcBef>
                <a:spcPts val="0"/>
              </a:spcBef>
              <a:buFont typeface="Wingdings" panose="05000000000000000000" pitchFamily="2" charset="2"/>
              <a:buChar char="Ø"/>
            </a:pPr>
            <a:endParaRPr lang="en-US" dirty="0"/>
          </a:p>
          <a:p>
            <a:pPr>
              <a:spcBef>
                <a:spcPts val="0"/>
              </a:spcBef>
              <a:buFont typeface="Wingdings" panose="05000000000000000000" pitchFamily="2" charset="2"/>
              <a:buChar char="Ø"/>
            </a:pPr>
            <a:r>
              <a:rPr lang="en-US" dirty="0"/>
              <a:t> Combining all the methods into a single architecture was technically challenging. This led to unstable training, where the model failed to converge or it produced inconsistent segmentation results.</a:t>
            </a:r>
          </a:p>
          <a:p>
            <a:pPr>
              <a:spcBef>
                <a:spcPts val="0"/>
              </a:spcBef>
              <a:buFont typeface="Wingdings" panose="05000000000000000000" pitchFamily="2" charset="2"/>
              <a:buChar char="Ø"/>
            </a:pPr>
            <a:endParaRPr lang="en-US" b="1" dirty="0"/>
          </a:p>
          <a:p>
            <a:pPr>
              <a:spcBef>
                <a:spcPts val="0"/>
              </a:spcBef>
              <a:buFont typeface="Wingdings" panose="05000000000000000000" pitchFamily="2" charset="2"/>
              <a:buChar char="Ø"/>
            </a:pPr>
            <a:r>
              <a:rPr lang="en-US" dirty="0"/>
              <a:t>Dataset limitations </a:t>
            </a:r>
          </a:p>
          <a:p>
            <a:pPr marL="0" indent="0">
              <a:spcBef>
                <a:spcPts val="0"/>
              </a:spcBef>
              <a:buNone/>
            </a:pPr>
            <a:endParaRPr lang="en-US" dirty="0"/>
          </a:p>
          <a:p>
            <a:pPr marL="0" indent="0">
              <a:spcBef>
                <a:spcPts val="0"/>
              </a:spcBef>
              <a:buNone/>
            </a:pPr>
            <a:endParaRPr lang="en-US" dirty="0"/>
          </a:p>
          <a:p>
            <a:pPr>
              <a:spcBef>
                <a:spcPts val="0"/>
              </a:spcBef>
              <a:buFont typeface="Wingdings" panose="05000000000000000000" pitchFamily="2" charset="2"/>
              <a:buChar char="Ø"/>
            </a:pPr>
            <a:r>
              <a:rPr lang="en-US" dirty="0"/>
              <a:t>Bias and lack of demographic diversity</a:t>
            </a:r>
          </a:p>
        </p:txBody>
      </p:sp>
    </p:spTree>
    <p:extLst>
      <p:ext uri="{BB962C8B-B14F-4D97-AF65-F5344CB8AC3E}">
        <p14:creationId xmlns:p14="http://schemas.microsoft.com/office/powerpoint/2010/main" val="23695808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1"/>
          <p:cNvSpPr txBox="1">
            <a:spLocks noGrp="1"/>
          </p:cNvSpPr>
          <p:nvPr>
            <p:ph type="title"/>
          </p:nvPr>
        </p:nvSpPr>
        <p:spPr>
          <a:xfrm>
            <a:off x="1981200" y="381000"/>
            <a:ext cx="8077200" cy="370042"/>
          </a:xfrm>
          <a:prstGeom prst="rect">
            <a:avLst/>
          </a:prstGeom>
          <a:noFill/>
          <a:ln>
            <a:noFill/>
          </a:ln>
        </p:spPr>
        <p:txBody>
          <a:bodyPr spcFirstLastPara="1" wrap="square" lIns="91425" tIns="45700" rIns="91425" bIns="45700" anchor="ctr" anchorCtr="0">
            <a:normAutofit fontScale="90000"/>
          </a:bodyPr>
          <a:lstStyle/>
          <a:p>
            <a:pPr>
              <a:buSzPct val="100000"/>
            </a:pPr>
            <a:r>
              <a:rPr lang="en-US" dirty="0"/>
              <a:t>Next Steps</a:t>
            </a:r>
            <a:endParaRPr dirty="0"/>
          </a:p>
        </p:txBody>
      </p:sp>
      <p:sp>
        <p:nvSpPr>
          <p:cNvPr id="160" name="Google Shape;160;p11"/>
          <p:cNvSpPr txBox="1">
            <a:spLocks noGrp="1"/>
          </p:cNvSpPr>
          <p:nvPr>
            <p:ph idx="1"/>
          </p:nvPr>
        </p:nvSpPr>
        <p:spPr>
          <a:xfrm>
            <a:off x="827314" y="1107972"/>
            <a:ext cx="10222462" cy="5445228"/>
          </a:xfrm>
          <a:prstGeom prst="rect">
            <a:avLst/>
          </a:prstGeom>
          <a:noFill/>
          <a:ln>
            <a:noFill/>
          </a:ln>
        </p:spPr>
        <p:txBody>
          <a:bodyPr spcFirstLastPara="1" wrap="square" lIns="91425" tIns="45700" rIns="91425" bIns="45700" anchor="t" anchorCtr="0">
            <a:normAutofit/>
          </a:bodyPr>
          <a:lstStyle/>
          <a:p>
            <a:pPr marL="0" indent="0">
              <a:spcBef>
                <a:spcPts val="0"/>
              </a:spcBef>
              <a:buNone/>
            </a:pPr>
            <a:r>
              <a:rPr lang="en-US" b="1" i="1" dirty="0"/>
              <a:t>Future efforts will focus on:</a:t>
            </a:r>
            <a:endParaRPr lang="en-US" dirty="0"/>
          </a:p>
          <a:p>
            <a:pPr marL="342900" indent="-342900">
              <a:spcBef>
                <a:spcPts val="0"/>
              </a:spcBef>
            </a:pPr>
            <a:endParaRPr lang="en-US" dirty="0"/>
          </a:p>
          <a:p>
            <a:pPr>
              <a:spcBef>
                <a:spcPts val="0"/>
              </a:spcBef>
              <a:buFont typeface="Wingdings" panose="05000000000000000000" pitchFamily="2" charset="2"/>
              <a:buChar char="Ø"/>
            </a:pPr>
            <a:r>
              <a:rPr lang="en-US" dirty="0"/>
              <a:t>Deploying the model in real-world clinical settings to assess its practicality and impact on healthcare delivery.</a:t>
            </a:r>
          </a:p>
          <a:p>
            <a:pPr marL="0" indent="0">
              <a:spcBef>
                <a:spcPts val="0"/>
              </a:spcBef>
              <a:buNone/>
            </a:pPr>
            <a:endParaRPr lang="en-US" dirty="0"/>
          </a:p>
          <a:p>
            <a:pPr>
              <a:spcBef>
                <a:spcPts val="0"/>
              </a:spcBef>
              <a:buFont typeface="Wingdings" panose="05000000000000000000" pitchFamily="2" charset="2"/>
              <a:buChar char="Ø"/>
            </a:pPr>
            <a:r>
              <a:rPr lang="en-US" dirty="0"/>
              <a:t>Enhancing model accuracy with larger datasets.</a:t>
            </a:r>
          </a:p>
          <a:p>
            <a:pPr marL="0" indent="0">
              <a:spcBef>
                <a:spcPts val="0"/>
              </a:spcBef>
              <a:buNone/>
            </a:pPr>
            <a:endParaRPr lang="en-US" dirty="0"/>
          </a:p>
          <a:p>
            <a:pPr>
              <a:spcBef>
                <a:spcPts val="0"/>
              </a:spcBef>
              <a:buFont typeface="Wingdings" panose="05000000000000000000" pitchFamily="2" charset="2"/>
              <a:buChar char="Ø"/>
            </a:pPr>
            <a:r>
              <a:rPr lang="en-US" dirty="0"/>
              <a:t>Integration with electronic health record (EHR) systems.</a:t>
            </a:r>
          </a:p>
          <a:p>
            <a:pPr marL="0" indent="0">
              <a:spcBef>
                <a:spcPts val="0"/>
              </a:spcBef>
              <a:buNone/>
            </a:pPr>
            <a:endParaRPr lang="en-US" dirty="0"/>
          </a:p>
          <a:p>
            <a:pPr>
              <a:spcBef>
                <a:spcPts val="0"/>
              </a:spcBef>
              <a:buFont typeface="Wingdings" panose="05000000000000000000" pitchFamily="2" charset="2"/>
              <a:buChar char="Ø"/>
            </a:pPr>
            <a:r>
              <a:rPr lang="en-US" dirty="0"/>
              <a:t>Developing a user-friendly application or website.</a:t>
            </a:r>
            <a:endParaRPr dirty="0"/>
          </a:p>
        </p:txBody>
      </p:sp>
    </p:spTree>
    <p:extLst>
      <p:ext uri="{BB962C8B-B14F-4D97-AF65-F5344CB8AC3E}">
        <p14:creationId xmlns:p14="http://schemas.microsoft.com/office/powerpoint/2010/main" val="19241693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12"/>
          <p:cNvSpPr txBox="1">
            <a:spLocks noGrp="1"/>
          </p:cNvSpPr>
          <p:nvPr>
            <p:ph type="title"/>
          </p:nvPr>
        </p:nvSpPr>
        <p:spPr>
          <a:xfrm>
            <a:off x="1981200" y="381000"/>
            <a:ext cx="8077200" cy="370042"/>
          </a:xfrm>
          <a:prstGeom prst="rect">
            <a:avLst/>
          </a:prstGeom>
          <a:noFill/>
          <a:ln>
            <a:noFill/>
          </a:ln>
        </p:spPr>
        <p:txBody>
          <a:bodyPr spcFirstLastPara="1" wrap="square" lIns="91425" tIns="45700" rIns="91425" bIns="45700" anchor="ctr" anchorCtr="0">
            <a:normAutofit fontScale="90000"/>
          </a:bodyPr>
          <a:lstStyle/>
          <a:p>
            <a:pPr>
              <a:buSzPct val="100000"/>
            </a:pPr>
            <a:r>
              <a:rPr lang="en-US" dirty="0"/>
              <a:t>REFERENCES</a:t>
            </a:r>
            <a:endParaRPr dirty="0"/>
          </a:p>
        </p:txBody>
      </p:sp>
      <p:sp>
        <p:nvSpPr>
          <p:cNvPr id="2" name="Google Shape;160;p11">
            <a:extLst>
              <a:ext uri="{FF2B5EF4-FFF2-40B4-BE49-F238E27FC236}">
                <a16:creationId xmlns:a16="http://schemas.microsoft.com/office/drawing/2014/main" id="{81ACA541-4995-B49C-28B3-B761685101A1}"/>
              </a:ext>
            </a:extLst>
          </p:cNvPr>
          <p:cNvSpPr txBox="1">
            <a:spLocks/>
          </p:cNvSpPr>
          <p:nvPr/>
        </p:nvSpPr>
        <p:spPr>
          <a:xfrm>
            <a:off x="810228" y="1018571"/>
            <a:ext cx="11011658" cy="5374453"/>
          </a:xfrm>
          <a:prstGeom prst="rect">
            <a:avLst/>
          </a:prstGeom>
          <a:noFill/>
          <a:ln>
            <a:noFill/>
          </a:ln>
        </p:spPr>
        <p:txBody>
          <a:bodyPr spcFirstLastPara="1" vert="horz" wrap="square" lIns="91425" tIns="45700" rIns="91425" bIns="45700" rtlCol="0" anchor="t" anchorCtr="0">
            <a:normAutofit/>
          </a:bodyPr>
          <a:lst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a:lstStyle>
          <a:p>
            <a:pPr marL="342900" indent="-342900" algn="just">
              <a:spcBef>
                <a:spcPts val="0"/>
              </a:spcBef>
              <a:buSzPts val="2600"/>
            </a:pPr>
            <a:r>
              <a:rPr lang="en-US" dirty="0"/>
              <a:t>[38] Y. Hu, Y. Gao, W. Gao, W. Luo, Z. Yang, F. Xiong, Z. Chen, Y. Lin, X. Xia, X. Yin et al., “Amd-</a:t>
            </a:r>
            <a:r>
              <a:rPr lang="en-US" dirty="0" err="1"/>
              <a:t>sd</a:t>
            </a:r>
            <a:r>
              <a:rPr lang="en-US" dirty="0"/>
              <a:t>: An optical coherence tomography image dataset for wet AMD lesions segmentation,” Scientific Data, vol. 11, no. 1, p. 1014,2024.</a:t>
            </a:r>
          </a:p>
          <a:p>
            <a:pPr marL="342900" indent="-342900" algn="just">
              <a:spcBef>
                <a:spcPts val="0"/>
              </a:spcBef>
              <a:buSzPts val="2600"/>
            </a:pPr>
            <a:endParaRPr lang="en-US" dirty="0"/>
          </a:p>
          <a:p>
            <a:pPr marL="342900" indent="-342900" algn="just">
              <a:spcBef>
                <a:spcPts val="0"/>
              </a:spcBef>
              <a:buSzPts val="2600"/>
            </a:pPr>
            <a:endParaRPr lang="en-US" dirty="0"/>
          </a:p>
          <a:p>
            <a:pPr marL="342900" indent="-342900" algn="just">
              <a:spcBef>
                <a:spcPts val="0"/>
              </a:spcBef>
              <a:buSzPts val="2600"/>
            </a:pPr>
            <a:r>
              <a:rPr lang="en-US" dirty="0"/>
              <a:t>[2] R. M. Hussain, B. A. Shaukat, L. M. Ciulla, A. M. Berrocal, and J. V. Srid-</a:t>
            </a:r>
            <a:r>
              <a:rPr lang="en-US" dirty="0" err="1"/>
              <a:t>har</a:t>
            </a:r>
            <a:r>
              <a:rPr lang="en-US" dirty="0"/>
              <a:t>, “Vascular endothelial growth factor antagonists: promising players in the treatment of neovascular age-related macular degeneration,” Drug Design, Development and Therapy, pp. 2653–2665, 2021.</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64">
          <a:extLst>
            <a:ext uri="{FF2B5EF4-FFF2-40B4-BE49-F238E27FC236}">
              <a16:creationId xmlns:a16="http://schemas.microsoft.com/office/drawing/2014/main" id="{671D30F2-D181-8398-CE66-402D137411FA}"/>
            </a:ext>
          </a:extLst>
        </p:cNvPr>
        <p:cNvGrpSpPr/>
        <p:nvPr/>
      </p:nvGrpSpPr>
      <p:grpSpPr>
        <a:xfrm>
          <a:off x="0" y="0"/>
          <a:ext cx="0" cy="0"/>
          <a:chOff x="0" y="0"/>
          <a:chExt cx="0" cy="0"/>
        </a:xfrm>
      </p:grpSpPr>
      <p:sp>
        <p:nvSpPr>
          <p:cNvPr id="165" name="Google Shape;165;p12">
            <a:extLst>
              <a:ext uri="{FF2B5EF4-FFF2-40B4-BE49-F238E27FC236}">
                <a16:creationId xmlns:a16="http://schemas.microsoft.com/office/drawing/2014/main" id="{89D37CFA-86C6-B842-29DD-9439ED84AF0C}"/>
              </a:ext>
            </a:extLst>
          </p:cNvPr>
          <p:cNvSpPr txBox="1">
            <a:spLocks noGrp="1"/>
          </p:cNvSpPr>
          <p:nvPr>
            <p:ph type="title"/>
          </p:nvPr>
        </p:nvSpPr>
        <p:spPr>
          <a:xfrm>
            <a:off x="1981200" y="381000"/>
            <a:ext cx="8077200" cy="370042"/>
          </a:xfrm>
          <a:prstGeom prst="rect">
            <a:avLst/>
          </a:prstGeom>
          <a:noFill/>
          <a:ln>
            <a:noFill/>
          </a:ln>
        </p:spPr>
        <p:txBody>
          <a:bodyPr spcFirstLastPara="1" wrap="square" lIns="91425" tIns="45700" rIns="91425" bIns="45700" anchor="ctr" anchorCtr="0">
            <a:normAutofit fontScale="90000"/>
          </a:bodyPr>
          <a:lstStyle/>
          <a:p>
            <a:pPr>
              <a:buSzPct val="100000"/>
            </a:pPr>
            <a:r>
              <a:rPr lang="en-US"/>
              <a:t>Acknowledgements</a:t>
            </a:r>
            <a:endParaRPr/>
          </a:p>
        </p:txBody>
      </p:sp>
      <p:sp>
        <p:nvSpPr>
          <p:cNvPr id="2" name="Google Shape;160;p11">
            <a:extLst>
              <a:ext uri="{FF2B5EF4-FFF2-40B4-BE49-F238E27FC236}">
                <a16:creationId xmlns:a16="http://schemas.microsoft.com/office/drawing/2014/main" id="{F2501127-56AB-5DDD-70F0-409E32B3F684}"/>
              </a:ext>
            </a:extLst>
          </p:cNvPr>
          <p:cNvSpPr txBox="1">
            <a:spLocks/>
          </p:cNvSpPr>
          <p:nvPr/>
        </p:nvSpPr>
        <p:spPr>
          <a:xfrm>
            <a:off x="787077" y="1157467"/>
            <a:ext cx="11034807" cy="5235557"/>
          </a:xfrm>
          <a:prstGeom prst="rect">
            <a:avLst/>
          </a:prstGeom>
          <a:noFill/>
          <a:ln>
            <a:noFill/>
          </a:ln>
        </p:spPr>
        <p:txBody>
          <a:bodyPr spcFirstLastPara="1" vert="horz" wrap="square" lIns="91425" tIns="45700" rIns="91425" bIns="45700" rtlCol="0" anchor="t" anchorCtr="0">
            <a:normAutofit/>
          </a:bodyPr>
          <a:lst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a:lstStyle>
          <a:p>
            <a:pPr marL="0" indent="0" algn="just">
              <a:spcBef>
                <a:spcPts val="0"/>
              </a:spcBef>
              <a:buSzPts val="2600"/>
              <a:buNone/>
            </a:pPr>
            <a:r>
              <a:rPr lang="en-US" sz="2400" dirty="0"/>
              <a:t>We would like to acknowledge the following people and organizations, without whose help, we would not have reached this far:</a:t>
            </a:r>
          </a:p>
          <a:p>
            <a:pPr marL="0" indent="0" algn="just">
              <a:spcBef>
                <a:spcPts val="0"/>
              </a:spcBef>
              <a:buSzPts val="2600"/>
              <a:buNone/>
            </a:pPr>
            <a:endParaRPr lang="en-US" sz="2400" dirty="0"/>
          </a:p>
          <a:p>
            <a:pPr algn="just">
              <a:spcBef>
                <a:spcPts val="0"/>
              </a:spcBef>
              <a:buSzPts val="2600"/>
              <a:buFont typeface="Wingdings" panose="05000000000000000000" pitchFamily="2" charset="2"/>
              <a:buChar char="Ø"/>
            </a:pPr>
            <a:r>
              <a:rPr lang="en-US" sz="2400" dirty="0"/>
              <a:t>Makerere University IP Management  Office for IP training, registration, and protection.</a:t>
            </a:r>
          </a:p>
          <a:p>
            <a:pPr algn="just">
              <a:spcBef>
                <a:spcPts val="0"/>
              </a:spcBef>
              <a:buSzPts val="2600"/>
              <a:buFont typeface="Wingdings" panose="05000000000000000000" pitchFamily="2" charset="2"/>
              <a:buChar char="Ø"/>
            </a:pPr>
            <a:endParaRPr lang="en-US" sz="2400" dirty="0"/>
          </a:p>
          <a:p>
            <a:pPr algn="just">
              <a:spcBef>
                <a:spcPts val="0"/>
              </a:spcBef>
              <a:buSzPts val="2600"/>
              <a:buFont typeface="Wingdings" panose="05000000000000000000" pitchFamily="2" charset="2"/>
              <a:buChar char="Ø"/>
            </a:pPr>
            <a:r>
              <a:rPr lang="en-US" sz="2400" dirty="0"/>
              <a:t>Makerere University Innovation pod (UniPod) for helping us in the journey of bridging our research and innovation into commercialization.</a:t>
            </a:r>
          </a:p>
          <a:p>
            <a:pPr algn="just">
              <a:spcBef>
                <a:spcPts val="0"/>
              </a:spcBef>
              <a:buSzPts val="2600"/>
              <a:buFont typeface="Wingdings" panose="05000000000000000000" pitchFamily="2" charset="2"/>
              <a:buChar char="Ø"/>
            </a:pPr>
            <a:endParaRPr lang="en-US" sz="2400" dirty="0"/>
          </a:p>
          <a:p>
            <a:pPr algn="just">
              <a:spcBef>
                <a:spcPts val="0"/>
              </a:spcBef>
              <a:buSzPts val="2600"/>
              <a:buFont typeface="Wingdings" panose="05000000000000000000" pitchFamily="2" charset="2"/>
              <a:buChar char="Ø"/>
            </a:pPr>
            <a:r>
              <a:rPr lang="en-US" sz="2400" dirty="0"/>
              <a:t>Mr. Ggaliwango Marvin for his guidance and valuable feedback.</a:t>
            </a:r>
          </a:p>
          <a:p>
            <a:pPr algn="just">
              <a:spcBef>
                <a:spcPts val="0"/>
              </a:spcBef>
              <a:buSzPts val="2600"/>
              <a:buFont typeface="Wingdings" panose="05000000000000000000" pitchFamily="2" charset="2"/>
              <a:buChar char="Ø"/>
            </a:pPr>
            <a:endParaRPr lang="en-US" sz="2400" dirty="0"/>
          </a:p>
          <a:p>
            <a:pPr algn="just">
              <a:spcBef>
                <a:spcPts val="0"/>
              </a:spcBef>
              <a:buSzPts val="2600"/>
              <a:buFont typeface="Wingdings" panose="05000000000000000000" pitchFamily="2" charset="2"/>
              <a:buChar char="Ø"/>
            </a:pPr>
            <a:r>
              <a:rPr lang="en-US" sz="2400" dirty="0"/>
              <a:t>Makerere University for providing resources and facilities.</a:t>
            </a:r>
          </a:p>
          <a:p>
            <a:pPr algn="just">
              <a:spcBef>
                <a:spcPts val="0"/>
              </a:spcBef>
              <a:buSzPts val="2600"/>
              <a:buFont typeface="Wingdings" panose="05000000000000000000" pitchFamily="2" charset="2"/>
              <a:buChar char="Ø"/>
            </a:pPr>
            <a:endParaRPr lang="en-US" sz="2800" dirty="0"/>
          </a:p>
          <a:p>
            <a:pPr marL="342900" indent="-342900" algn="just">
              <a:spcBef>
                <a:spcPts val="0"/>
              </a:spcBef>
              <a:buSzPts val="2600"/>
            </a:pPr>
            <a:endParaRPr lang="en-US" sz="2800" dirty="0"/>
          </a:p>
        </p:txBody>
      </p:sp>
    </p:spTree>
    <p:extLst>
      <p:ext uri="{BB962C8B-B14F-4D97-AF65-F5344CB8AC3E}">
        <p14:creationId xmlns:p14="http://schemas.microsoft.com/office/powerpoint/2010/main" val="1896955574"/>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rgbClr val="2E2B21"/>
      </a:dk1>
      <a:lt1>
        <a:srgbClr val="FFFFFF"/>
      </a:lt1>
      <a:dk2>
        <a:srgbClr val="605B4F"/>
      </a:dk2>
      <a:lt2>
        <a:srgbClr val="D8D6BE"/>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blipFill rotWithShape="1">
          <a:blip xmlns:r="http://schemas.openxmlformats.org/officeDocument/2006/relationships" r:embed="rId1">
            <a:duotone>
              <a:schemeClr val="phClr">
                <a:tint val="98000"/>
              </a:schemeClr>
              <a:schemeClr val="phClr">
                <a:shade val="89000"/>
                <a:satMod val="145000"/>
              </a:schemeClr>
            </a:duotone>
          </a:blip>
          <a:tile tx="0" ty="0" sx="32000" sy="32000" flip="none" algn="tl"/>
        </a:blipFill>
        <a:blipFill rotWithShape="1">
          <a:blip xmlns:r="http://schemas.openxmlformats.org/officeDocument/2006/relationships" r:embed="rId2">
            <a:duotone>
              <a:schemeClr val="phClr">
                <a:tint val="98000"/>
              </a:schemeClr>
              <a:schemeClr val="phClr">
                <a:shade val="95000"/>
              </a:schemeClr>
            </a:duotone>
          </a:blip>
          <a:tile tx="0" ty="0" sx="32000" sy="32000" flip="none" algn="tl"/>
        </a:blipFill>
      </a:bgFillStyleLst>
    </a:fmtScheme>
  </a:themeElements>
  <a:objectDefaults/>
  <a:extraClrSchemeLst/>
  <a:extLst>
    <a:ext uri="{05A4C25C-085E-4340-85A3-A5531E510DB2}">
      <thm15:themeFamily xmlns:thm15="http://schemas.microsoft.com/office/thememl/2012/main" name="Integral" id="{3577F8C9-A904-41D8-97D2-FD898F53F20E}" vid="{090DCB5F-146D-478A-852A-34B16FE9F3A8}"/>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Integral</Template>
  <TotalTime>1734</TotalTime>
  <Words>1425</Words>
  <Application>Microsoft Office PowerPoint</Application>
  <PresentationFormat>Widescreen</PresentationFormat>
  <Paragraphs>192</Paragraphs>
  <Slides>24</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Arial</vt:lpstr>
      <vt:lpstr>Arial Rounded</vt:lpstr>
      <vt:lpstr>Calibri</vt:lpstr>
      <vt:lpstr>Tw Cen MT</vt:lpstr>
      <vt:lpstr>Tw Cen MT Condensed</vt:lpstr>
      <vt:lpstr>Wingdings</vt:lpstr>
      <vt:lpstr>Wingdings 3</vt:lpstr>
      <vt:lpstr>Integral</vt:lpstr>
      <vt:lpstr>Department of Computer Science, COCIS Makerere University Lecturer: Ggaliwango Marvin</vt:lpstr>
      <vt:lpstr>Contents of Presentation</vt:lpstr>
      <vt:lpstr>BACKGROUND AND Introduction </vt:lpstr>
      <vt:lpstr>Related Works</vt:lpstr>
      <vt:lpstr>Problem Statements</vt:lpstr>
      <vt:lpstr>          Problem Statements CONTINUED…</vt:lpstr>
      <vt:lpstr>Research Objectives</vt:lpstr>
      <vt:lpstr>Research Contributions </vt:lpstr>
      <vt:lpstr>Methodology</vt:lpstr>
      <vt:lpstr>SYSTEM ARCHITECTURE</vt:lpstr>
      <vt:lpstr>Dataset DESCRIPTION</vt:lpstr>
      <vt:lpstr>Exploratory data analysis (EDA) RESULTS</vt:lpstr>
      <vt:lpstr>PowerPoint Presentation</vt:lpstr>
      <vt:lpstr>EXPLAINABLE AI</vt:lpstr>
      <vt:lpstr>Explainable AI Results FOR THE RNN_CNN_KD MODEL - BEST MODEL </vt:lpstr>
      <vt:lpstr>Explainable AI Results FOR THE UNET_GAT MODEL – WORST MODEL </vt:lpstr>
      <vt:lpstr>Models Selection</vt:lpstr>
      <vt:lpstr>Results and Evaluation</vt:lpstr>
      <vt:lpstr>System Demonstration</vt:lpstr>
      <vt:lpstr>Intellectual Property of system</vt:lpstr>
      <vt:lpstr>Conclusions and limitations</vt:lpstr>
      <vt:lpstr>Next Steps</vt:lpstr>
      <vt:lpstr>REFERENCES</vt:lpstr>
      <vt:lpstr>Acknowledgements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Ggaliwango Marvin</dc:creator>
  <cp:lastModifiedBy>9th- water-lily</cp:lastModifiedBy>
  <cp:revision>60</cp:revision>
  <dcterms:created xsi:type="dcterms:W3CDTF">2006-08-16T00:00:00Z</dcterms:created>
  <dcterms:modified xsi:type="dcterms:W3CDTF">2025-04-27T12:36:06Z</dcterms:modified>
</cp:coreProperties>
</file>