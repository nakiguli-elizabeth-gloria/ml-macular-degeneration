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2" r:id="rId4"/>
    <p:sldId id="261" r:id="rId5"/>
    <p:sldId id="263" r:id="rId6"/>
    <p:sldId id="270" r:id="rId7"/>
    <p:sldId id="264" r:id="rId8"/>
    <p:sldId id="266" r:id="rId9"/>
    <p:sldId id="267" r:id="rId10"/>
    <p:sldId id="268" r:id="rId11"/>
    <p:sldId id="269" r:id="rId12"/>
  </p:sldIdLst>
  <p:sldSz cx="18288000" cy="10287000"/>
  <p:notesSz cx="6858000" cy="9144000"/>
  <p:embeddedFontLst>
    <p:embeddedFont>
      <p:font typeface="Montserrat" panose="00000500000000000000" pitchFamily="2" charset="0"/>
      <p:regular r:id="rId13"/>
    </p:embeddedFont>
    <p:embeddedFont>
      <p:font typeface="Montserrat Bold" panose="00000800000000000000" charset="0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  <p:embeddedFont>
      <p:font typeface="Poppi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6515-4C4F-8703-73DF72D55F3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86B3-4686-9B4D-1796CDF403D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86B3-4686-9B4D-1796CDF403D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86B3-4686-9B4D-1796CDF403D4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Hospitals and Eye clinics</c:v>
                </c:pt>
                <c:pt idx="1">
                  <c:v>General Public</c:v>
                </c:pt>
                <c:pt idx="2">
                  <c:v>Research Institutions</c:v>
                </c:pt>
                <c:pt idx="3">
                  <c:v>Government Bodies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</c:v>
                </c:pt>
                <c:pt idx="1">
                  <c:v>0.1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15-4C4F-8703-73DF72D55F3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488243657042855"/>
          <c:y val="0.23103393972305186"/>
          <c:w val="0.19456200787401573"/>
          <c:h val="0.4218699972848222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33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7669737" y="9923064"/>
            <a:ext cx="2948526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343015" y="246623"/>
            <a:ext cx="966845" cy="995814"/>
          </a:xfrm>
          <a:custGeom>
            <a:avLst/>
            <a:gdLst/>
            <a:ahLst/>
            <a:cxnLst/>
            <a:rect l="l" t="t" r="r" b="b"/>
            <a:pathLst>
              <a:path w="966845" h="995814">
                <a:moveTo>
                  <a:pt x="0" y="0"/>
                </a:moveTo>
                <a:lnTo>
                  <a:pt x="966845" y="0"/>
                </a:lnTo>
                <a:lnTo>
                  <a:pt x="966845" y="995813"/>
                </a:lnTo>
                <a:lnTo>
                  <a:pt x="0" y="995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53429" y="1598119"/>
            <a:ext cx="15405871" cy="721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5"/>
              </a:lnSpc>
            </a:pPr>
            <a:r>
              <a:rPr lang="en-US" sz="749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GRAPH ATTENTION MECHANISMS FOR MACULAR DEGENERATION DISEASE DIAGNOSIS USING SELF ROUTING CAPSULE KNOWLEDGE DISTILLATION</a:t>
            </a:r>
          </a:p>
          <a:p>
            <a:pPr algn="ctr">
              <a:lnSpc>
                <a:spcPts val="7645"/>
              </a:lnSpc>
            </a:pPr>
            <a:endParaRPr lang="en-US" sz="749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769"/>
              </a:lnSpc>
            </a:pPr>
            <a:r>
              <a:rPr lang="en-US" sz="369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ABONYO MITCHELL NINA, NAKIGULI ELIZABETH GLORIA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6643" y="464027"/>
            <a:ext cx="4610519" cy="5750608"/>
          </a:xfrm>
          <a:custGeom>
            <a:avLst/>
            <a:gdLst/>
            <a:ahLst/>
            <a:cxnLst/>
            <a:rect l="l" t="t" r="r" b="b"/>
            <a:pathLst>
              <a:path w="5985672" h="5750608">
                <a:moveTo>
                  <a:pt x="0" y="0"/>
                </a:moveTo>
                <a:lnTo>
                  <a:pt x="5985673" y="0"/>
                </a:lnTo>
                <a:lnTo>
                  <a:pt x="5985673" y="5750607"/>
                </a:lnTo>
                <a:lnTo>
                  <a:pt x="0" y="5750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43" b="-2043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Freeform 3"/>
          <p:cNvSpPr/>
          <p:nvPr/>
        </p:nvSpPr>
        <p:spPr>
          <a:xfrm>
            <a:off x="7315200" y="1462996"/>
            <a:ext cx="9523796" cy="5183666"/>
          </a:xfrm>
          <a:custGeom>
            <a:avLst/>
            <a:gdLst/>
            <a:ahLst/>
            <a:cxnLst/>
            <a:rect l="l" t="t" r="r" b="b"/>
            <a:pathLst>
              <a:path w="8689166" h="5183666">
                <a:moveTo>
                  <a:pt x="0" y="0"/>
                </a:moveTo>
                <a:lnTo>
                  <a:pt x="8689167" y="0"/>
                </a:lnTo>
                <a:lnTo>
                  <a:pt x="8689167" y="5183666"/>
                </a:lnTo>
                <a:lnTo>
                  <a:pt x="0" y="5183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Freeform 4"/>
          <p:cNvSpPr/>
          <p:nvPr/>
        </p:nvSpPr>
        <p:spPr>
          <a:xfrm>
            <a:off x="197008" y="5983773"/>
            <a:ext cx="5509791" cy="4125375"/>
          </a:xfrm>
          <a:custGeom>
            <a:avLst/>
            <a:gdLst/>
            <a:ahLst/>
            <a:cxnLst/>
            <a:rect l="l" t="t" r="r" b="b"/>
            <a:pathLst>
              <a:path w="5509791" h="5509791">
                <a:moveTo>
                  <a:pt x="0" y="0"/>
                </a:moveTo>
                <a:lnTo>
                  <a:pt x="5509791" y="0"/>
                </a:lnTo>
                <a:lnTo>
                  <a:pt x="5509791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CB8CC28C-84EB-4776-B5B7-4BA410DD26A4}"/>
              </a:ext>
            </a:extLst>
          </p:cNvPr>
          <p:cNvSpPr/>
          <p:nvPr/>
        </p:nvSpPr>
        <p:spPr>
          <a:xfrm>
            <a:off x="7315200" y="6667500"/>
            <a:ext cx="8941139" cy="3301568"/>
          </a:xfrm>
          <a:custGeom>
            <a:avLst/>
            <a:gdLst/>
            <a:ahLst/>
            <a:cxnLst/>
            <a:rect l="l" t="t" r="r" b="b"/>
            <a:pathLst>
              <a:path w="9636275" h="3471003">
                <a:moveTo>
                  <a:pt x="0" y="0"/>
                </a:moveTo>
                <a:lnTo>
                  <a:pt x="9636275" y="0"/>
                </a:lnTo>
                <a:lnTo>
                  <a:pt x="9636275" y="3471003"/>
                </a:lnTo>
                <a:lnTo>
                  <a:pt x="0" y="3471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68" b="-368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E14146-1D94-4479-A549-A8AC4E47F62D}"/>
              </a:ext>
            </a:extLst>
          </p:cNvPr>
          <p:cNvSpPr/>
          <p:nvPr/>
        </p:nvSpPr>
        <p:spPr>
          <a:xfrm>
            <a:off x="6248400" y="464027"/>
            <a:ext cx="5367880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PARTNERS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73C00A25-FAFE-4651-8F3F-67BC4C66AB88}"/>
              </a:ext>
            </a:extLst>
          </p:cNvPr>
          <p:cNvGrpSpPr/>
          <p:nvPr/>
        </p:nvGrpSpPr>
        <p:grpSpPr>
          <a:xfrm>
            <a:off x="17123384" y="246174"/>
            <a:ext cx="1024867" cy="1024867"/>
            <a:chOff x="0" y="0"/>
            <a:chExt cx="812800" cy="8128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70E4739E-B3B5-40FF-BBA8-B063010CF3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1C03E03A-26CA-432B-9D47-0163067884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438" y="9078546"/>
            <a:ext cx="1024867" cy="10248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8872" y="458184"/>
            <a:ext cx="326225" cy="336000"/>
          </a:xfrm>
          <a:custGeom>
            <a:avLst/>
            <a:gdLst/>
            <a:ahLst/>
            <a:cxnLst/>
            <a:rect l="l" t="t" r="r" b="b"/>
            <a:pathLst>
              <a:path w="326225" h="336000">
                <a:moveTo>
                  <a:pt x="0" y="0"/>
                </a:moveTo>
                <a:lnTo>
                  <a:pt x="326225" y="0"/>
                </a:lnTo>
                <a:lnTo>
                  <a:pt x="32622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754655" y="2515646"/>
            <a:ext cx="845474" cy="914275"/>
            <a:chOff x="0" y="0"/>
            <a:chExt cx="1013945" cy="10964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04136" y="4461283"/>
            <a:ext cx="845474" cy="914275"/>
            <a:chOff x="0" y="0"/>
            <a:chExt cx="1013945" cy="109645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54655" y="6234834"/>
            <a:ext cx="845474" cy="914275"/>
            <a:chOff x="0" y="0"/>
            <a:chExt cx="1013945" cy="10964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631399" y="1387199"/>
            <a:ext cx="7512601" cy="7512601"/>
          </a:xfrm>
          <a:custGeom>
            <a:avLst/>
            <a:gdLst/>
            <a:ahLst/>
            <a:cxnLst/>
            <a:rect l="l" t="t" r="r" b="b"/>
            <a:pathLst>
              <a:path w="7512601" h="7512601">
                <a:moveTo>
                  <a:pt x="0" y="0"/>
                </a:moveTo>
                <a:lnTo>
                  <a:pt x="7512601" y="0"/>
                </a:lnTo>
                <a:lnTo>
                  <a:pt x="7512601" y="7512602"/>
                </a:lnTo>
                <a:lnTo>
                  <a:pt x="0" y="7512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754656" y="595475"/>
            <a:ext cx="4987798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RESOURCES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767462" y="2456491"/>
            <a:ext cx="5975185" cy="172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Development team that consists of trained AI engineers.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53398" y="4642607"/>
            <a:ext cx="5361022" cy="114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Partnerships with eye clinics and hospitals.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56990" y="7830509"/>
            <a:ext cx="5361022" cy="114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Financial Support in form of grants and loans.</a:t>
            </a:r>
          </a:p>
        </p:txBody>
      </p:sp>
      <p:grpSp>
        <p:nvGrpSpPr>
          <p:cNvPr id="29" name="Group 21">
            <a:extLst>
              <a:ext uri="{FF2B5EF4-FFF2-40B4-BE49-F238E27FC236}">
                <a16:creationId xmlns:a16="http://schemas.microsoft.com/office/drawing/2014/main" id="{8236B447-E1D6-4CC4-B8B9-2FE822B873AD}"/>
              </a:ext>
            </a:extLst>
          </p:cNvPr>
          <p:cNvGrpSpPr/>
          <p:nvPr/>
        </p:nvGrpSpPr>
        <p:grpSpPr>
          <a:xfrm>
            <a:off x="10675391" y="7985525"/>
            <a:ext cx="845474" cy="914275"/>
            <a:chOff x="0" y="0"/>
            <a:chExt cx="1013945" cy="1096454"/>
          </a:xfrm>
        </p:grpSpPr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0A8F77F9-AF7B-4877-9977-BDC337E913A7}"/>
                </a:ext>
              </a:extLst>
            </p:cNvPr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1" name="TextBox 23">
              <a:extLst>
                <a:ext uri="{FF2B5EF4-FFF2-40B4-BE49-F238E27FC236}">
                  <a16:creationId xmlns:a16="http://schemas.microsoft.com/office/drawing/2014/main" id="{5A398EBA-587F-456E-B478-EF71B260ABC1}"/>
                </a:ext>
              </a:extLst>
            </p:cNvPr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  <a:p>
              <a:pPr algn="ctr">
                <a:lnSpc>
                  <a:spcPts val="2239"/>
                </a:lnSpc>
              </a:pPr>
              <a:endParaRPr lang="en-US" sz="1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35" name="TextBox 28">
            <a:extLst>
              <a:ext uri="{FF2B5EF4-FFF2-40B4-BE49-F238E27FC236}">
                <a16:creationId xmlns:a16="http://schemas.microsoft.com/office/drawing/2014/main" id="{C2799ED0-91F1-4651-A955-96BEF38179BC}"/>
              </a:ext>
            </a:extLst>
          </p:cNvPr>
          <p:cNvSpPr txBox="1"/>
          <p:nvPr/>
        </p:nvSpPr>
        <p:spPr>
          <a:xfrm>
            <a:off x="11956990" y="6150805"/>
            <a:ext cx="5361022" cy="114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Medical Image data from patients.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438" y="9061995"/>
            <a:ext cx="1024867" cy="10248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8872" y="458184"/>
            <a:ext cx="326225" cy="336000"/>
          </a:xfrm>
          <a:custGeom>
            <a:avLst/>
            <a:gdLst/>
            <a:ahLst/>
            <a:cxnLst/>
            <a:rect l="l" t="t" r="r" b="b"/>
            <a:pathLst>
              <a:path w="326225" h="336000">
                <a:moveTo>
                  <a:pt x="0" y="0"/>
                </a:moveTo>
                <a:lnTo>
                  <a:pt x="326225" y="0"/>
                </a:lnTo>
                <a:lnTo>
                  <a:pt x="32622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8319284" y="2853360"/>
            <a:ext cx="845474" cy="914275"/>
            <a:chOff x="0" y="0"/>
            <a:chExt cx="1013945" cy="10964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319284" y="4748198"/>
            <a:ext cx="845474" cy="914275"/>
            <a:chOff x="0" y="0"/>
            <a:chExt cx="1013945" cy="109645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19284" y="6665103"/>
            <a:ext cx="845474" cy="914275"/>
            <a:chOff x="0" y="0"/>
            <a:chExt cx="1013945" cy="10964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19284" y="8745866"/>
            <a:ext cx="845474" cy="914275"/>
            <a:chOff x="0" y="0"/>
            <a:chExt cx="1013945" cy="10964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27" name="Freeform 27"/>
          <p:cNvSpPr/>
          <p:nvPr/>
        </p:nvSpPr>
        <p:spPr>
          <a:xfrm>
            <a:off x="1028700" y="2106931"/>
            <a:ext cx="5902503" cy="5902503"/>
          </a:xfrm>
          <a:custGeom>
            <a:avLst/>
            <a:gdLst/>
            <a:ahLst/>
            <a:cxnLst/>
            <a:rect l="l" t="t" r="r" b="b"/>
            <a:pathLst>
              <a:path w="5902503" h="5902503">
                <a:moveTo>
                  <a:pt x="0" y="0"/>
                </a:moveTo>
                <a:lnTo>
                  <a:pt x="5902503" y="0"/>
                </a:lnTo>
                <a:lnTo>
                  <a:pt x="5902503" y="5902503"/>
                </a:lnTo>
                <a:lnTo>
                  <a:pt x="0" y="5902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8319284" y="733093"/>
            <a:ext cx="4248091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ACTIVITIES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33453" y="5633898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81012" y="2704707"/>
            <a:ext cx="4497104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Data Collection and Preprocessing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81012" y="4786172"/>
            <a:ext cx="4497104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Model Development and training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81012" y="8591995"/>
            <a:ext cx="4497104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Integration with hospital systems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81012" y="6820444"/>
            <a:ext cx="4497104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Platform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12578" y="0"/>
            <a:ext cx="6975422" cy="10287000"/>
            <a:chOff x="0" y="0"/>
            <a:chExt cx="183714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7148" cy="2709333"/>
            </a:xfrm>
            <a:custGeom>
              <a:avLst/>
              <a:gdLst/>
              <a:ahLst/>
              <a:cxnLst/>
              <a:rect l="l" t="t" r="r" b="b"/>
              <a:pathLst>
                <a:path w="1837148" h="2709333">
                  <a:moveTo>
                    <a:pt x="0" y="0"/>
                  </a:moveTo>
                  <a:lnTo>
                    <a:pt x="1837148" y="0"/>
                  </a:lnTo>
                  <a:lnTo>
                    <a:pt x="183714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3714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234" y="109718"/>
            <a:ext cx="1024867" cy="102486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995207" y="832284"/>
            <a:ext cx="5161780" cy="132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4653" b="1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VALUE PROPOSITIONS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3751" y="384781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904387" y="4686363"/>
            <a:ext cx="845474" cy="914275"/>
            <a:chOff x="0" y="0"/>
            <a:chExt cx="1013945" cy="10964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04387" y="2962112"/>
            <a:ext cx="845474" cy="914275"/>
            <a:chOff x="0" y="0"/>
            <a:chExt cx="1013945" cy="10964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904387" y="6221863"/>
            <a:ext cx="845474" cy="914275"/>
            <a:chOff x="0" y="0"/>
            <a:chExt cx="1013945" cy="109645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04387" y="8085412"/>
            <a:ext cx="845474" cy="914275"/>
            <a:chOff x="0" y="0"/>
            <a:chExt cx="1013945" cy="109645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1" name="TextBox 31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179785" y="2731481"/>
            <a:ext cx="4497104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Early detection of macular degeneration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79785" y="4619688"/>
            <a:ext cx="5932657" cy="114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Fast and automated diagnosis of macular degeneration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79785" y="6345751"/>
            <a:ext cx="4497104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Affordable and accessible screening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79785" y="8113394"/>
            <a:ext cx="4497104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Enhanced medical research through AI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542366" y="3605877"/>
            <a:ext cx="7000079" cy="4014851"/>
            <a:chOff x="0" y="0"/>
            <a:chExt cx="1084495" cy="62200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84495" cy="622005"/>
            </a:xfrm>
            <a:custGeom>
              <a:avLst/>
              <a:gdLst/>
              <a:ahLst/>
              <a:cxnLst/>
              <a:rect l="l" t="t" r="r" b="b"/>
              <a:pathLst>
                <a:path w="1084495" h="622005">
                  <a:moveTo>
                    <a:pt x="99538" y="0"/>
                  </a:moveTo>
                  <a:lnTo>
                    <a:pt x="984958" y="0"/>
                  </a:lnTo>
                  <a:cubicBezTo>
                    <a:pt x="1011357" y="0"/>
                    <a:pt x="1036674" y="10487"/>
                    <a:pt x="1055341" y="29154"/>
                  </a:cubicBezTo>
                  <a:cubicBezTo>
                    <a:pt x="1074008" y="47821"/>
                    <a:pt x="1084495" y="73139"/>
                    <a:pt x="1084495" y="99538"/>
                  </a:cubicBezTo>
                  <a:lnTo>
                    <a:pt x="1084495" y="522468"/>
                  </a:lnTo>
                  <a:cubicBezTo>
                    <a:pt x="1084495" y="577441"/>
                    <a:pt x="1039931" y="622005"/>
                    <a:pt x="984958" y="622005"/>
                  </a:cubicBezTo>
                  <a:lnTo>
                    <a:pt x="99538" y="622005"/>
                  </a:lnTo>
                  <a:cubicBezTo>
                    <a:pt x="73139" y="622005"/>
                    <a:pt x="47821" y="611518"/>
                    <a:pt x="29154" y="592852"/>
                  </a:cubicBezTo>
                  <a:cubicBezTo>
                    <a:pt x="10487" y="574185"/>
                    <a:pt x="0" y="548867"/>
                    <a:pt x="0" y="522468"/>
                  </a:cubicBezTo>
                  <a:lnTo>
                    <a:pt x="0" y="99538"/>
                  </a:lnTo>
                  <a:cubicBezTo>
                    <a:pt x="0" y="44565"/>
                    <a:pt x="44565" y="0"/>
                    <a:pt x="99538" y="0"/>
                  </a:cubicBezTo>
                  <a:close/>
                </a:path>
              </a:pathLst>
            </a:custGeom>
            <a:blipFill>
              <a:blip r:embed="rId2"/>
              <a:stretch>
                <a:fillRect l="-981" r="-981"/>
              </a:stretch>
            </a:blipFill>
            <a:ln w="133350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CEECEE-9C0C-460B-8E14-9FF49BCD1362}"/>
              </a:ext>
            </a:extLst>
          </p:cNvPr>
          <p:cNvSpPr/>
          <p:nvPr/>
        </p:nvSpPr>
        <p:spPr>
          <a:xfrm>
            <a:off x="4474834" y="158363"/>
            <a:ext cx="9067800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SEGMENTS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7A79EF7-2505-43E9-B9BD-36DFE239BE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6792618"/>
              </p:ext>
            </p:extLst>
          </p:nvPr>
        </p:nvGraphicFramePr>
        <p:xfrm>
          <a:off x="0" y="1079500"/>
          <a:ext cx="18288000" cy="920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" name="Group 2">
            <a:extLst>
              <a:ext uri="{FF2B5EF4-FFF2-40B4-BE49-F238E27FC236}">
                <a16:creationId xmlns:a16="http://schemas.microsoft.com/office/drawing/2014/main" id="{D01D6D6A-7529-479A-A63E-06451B0E4504}"/>
              </a:ext>
            </a:extLst>
          </p:cNvPr>
          <p:cNvGrpSpPr/>
          <p:nvPr/>
        </p:nvGrpSpPr>
        <p:grpSpPr>
          <a:xfrm>
            <a:off x="17263133" y="9262133"/>
            <a:ext cx="1024867" cy="1024867"/>
            <a:chOff x="0" y="0"/>
            <a:chExt cx="812800" cy="8128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943553EF-8CC2-43E3-AEA1-2466D2D732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224DA4A2-D761-4D21-84F4-2EDEA07E41B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23877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994" y="9168201"/>
            <a:ext cx="1024867" cy="10248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8872" y="458184"/>
            <a:ext cx="326225" cy="336000"/>
          </a:xfrm>
          <a:custGeom>
            <a:avLst/>
            <a:gdLst/>
            <a:ahLst/>
            <a:cxnLst/>
            <a:rect l="l" t="t" r="r" b="b"/>
            <a:pathLst>
              <a:path w="326225" h="336000">
                <a:moveTo>
                  <a:pt x="0" y="0"/>
                </a:moveTo>
                <a:lnTo>
                  <a:pt x="326225" y="0"/>
                </a:lnTo>
                <a:lnTo>
                  <a:pt x="32622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8319284" y="2853360"/>
            <a:ext cx="845474" cy="914275"/>
            <a:chOff x="0" y="0"/>
            <a:chExt cx="1013945" cy="10964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319284" y="4748198"/>
            <a:ext cx="845474" cy="914275"/>
            <a:chOff x="0" y="0"/>
            <a:chExt cx="1013945" cy="109645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19284" y="6665103"/>
            <a:ext cx="845474" cy="914275"/>
            <a:chOff x="0" y="0"/>
            <a:chExt cx="1013945" cy="10964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19284" y="8233433"/>
            <a:ext cx="845474" cy="914275"/>
            <a:chOff x="0" y="0"/>
            <a:chExt cx="1013945" cy="10964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27" name="Freeform 27"/>
          <p:cNvSpPr/>
          <p:nvPr/>
        </p:nvSpPr>
        <p:spPr>
          <a:xfrm>
            <a:off x="1028700" y="1638151"/>
            <a:ext cx="5772225" cy="6975499"/>
          </a:xfrm>
          <a:custGeom>
            <a:avLst/>
            <a:gdLst/>
            <a:ahLst/>
            <a:cxnLst/>
            <a:rect l="l" t="t" r="r" b="b"/>
            <a:pathLst>
              <a:path w="5772225" h="6975499">
                <a:moveTo>
                  <a:pt x="0" y="0"/>
                </a:moveTo>
                <a:lnTo>
                  <a:pt x="5772225" y="0"/>
                </a:lnTo>
                <a:lnTo>
                  <a:pt x="5772225" y="6975499"/>
                </a:lnTo>
                <a:lnTo>
                  <a:pt x="0" y="6975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1233453" y="5633898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40682" y="285929"/>
            <a:ext cx="5985543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000" b="1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RELATIONSHIPS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36157" y="2786685"/>
            <a:ext cx="6056440" cy="172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Partnerships with hospitals, healthcare providers and eye clinics.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36157" y="4651568"/>
            <a:ext cx="7029521" cy="172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Training sessions, workshops and webinars via radio and TV in local languages such as Luganda, Acholi.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9850" y="6799032"/>
            <a:ext cx="6855047" cy="11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Feedback and reviews through surveys and interviews                        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36157" y="8361898"/>
            <a:ext cx="7887673" cy="114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Integration with government health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109705" y="9137101"/>
            <a:ext cx="1024867" cy="10248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53751" y="384781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56332" y="2266787"/>
            <a:ext cx="845474" cy="914275"/>
            <a:chOff x="0" y="0"/>
            <a:chExt cx="1013945" cy="10964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6332" y="4686363"/>
            <a:ext cx="845474" cy="914275"/>
            <a:chOff x="0" y="0"/>
            <a:chExt cx="1013945" cy="10964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56332" y="6640963"/>
            <a:ext cx="845474" cy="914275"/>
            <a:chOff x="0" y="0"/>
            <a:chExt cx="1013945" cy="109645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  <a:p>
              <a:pPr algn="ctr">
                <a:lnSpc>
                  <a:spcPts val="2239"/>
                </a:lnSpc>
              </a:pPr>
              <a:endParaRPr lang="en-US" sz="1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25" name="Freeform 25"/>
          <p:cNvSpPr/>
          <p:nvPr/>
        </p:nvSpPr>
        <p:spPr>
          <a:xfrm>
            <a:off x="9144000" y="1464548"/>
            <a:ext cx="7055656" cy="7055656"/>
          </a:xfrm>
          <a:custGeom>
            <a:avLst/>
            <a:gdLst/>
            <a:ahLst/>
            <a:cxnLst/>
            <a:rect l="l" t="t" r="r" b="b"/>
            <a:pathLst>
              <a:path w="7055656" h="7055656">
                <a:moveTo>
                  <a:pt x="0" y="0"/>
                </a:moveTo>
                <a:lnTo>
                  <a:pt x="7055656" y="0"/>
                </a:lnTo>
                <a:lnTo>
                  <a:pt x="7055656" y="7055656"/>
                </a:lnTo>
                <a:lnTo>
                  <a:pt x="0" y="7055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162931" y="832284"/>
            <a:ext cx="5161780" cy="66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4653" b="1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CHANNELS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49861" y="2150257"/>
            <a:ext cx="6316394" cy="172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Partnerships and collaborations with local pharmacies and optical shops.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72116" y="4619688"/>
            <a:ext cx="6394139" cy="114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Community outreach programs such as the MOH campaigns.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27607" y="6407330"/>
            <a:ext cx="4497104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Online marketing and awareness campaigns</a:t>
            </a:r>
          </a:p>
        </p:txBody>
      </p:sp>
      <p:grpSp>
        <p:nvGrpSpPr>
          <p:cNvPr id="30" name="Group 22">
            <a:extLst>
              <a:ext uri="{FF2B5EF4-FFF2-40B4-BE49-F238E27FC236}">
                <a16:creationId xmlns:a16="http://schemas.microsoft.com/office/drawing/2014/main" id="{16099BF7-06CD-47A8-89E9-3A226C37699D}"/>
              </a:ext>
            </a:extLst>
          </p:cNvPr>
          <p:cNvGrpSpPr/>
          <p:nvPr/>
        </p:nvGrpSpPr>
        <p:grpSpPr>
          <a:xfrm>
            <a:off x="1486794" y="8109068"/>
            <a:ext cx="1015011" cy="1239698"/>
            <a:chOff x="95057" y="55168"/>
            <a:chExt cx="1217264" cy="1486721"/>
          </a:xfrm>
        </p:grpSpPr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FC782729-4BC3-421C-A51B-DEC4B1FACE0A}"/>
                </a:ext>
              </a:extLst>
            </p:cNvPr>
            <p:cNvSpPr/>
            <p:nvPr/>
          </p:nvSpPr>
          <p:spPr>
            <a:xfrm>
              <a:off x="298376" y="445435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2" name="TextBox 24">
              <a:extLst>
                <a:ext uri="{FF2B5EF4-FFF2-40B4-BE49-F238E27FC236}">
                  <a16:creationId xmlns:a16="http://schemas.microsoft.com/office/drawing/2014/main" id="{D1C78311-3F08-42D3-94A5-BF0AFBBDCFD6}"/>
                </a:ext>
              </a:extLst>
            </p:cNvPr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42" name="TextBox 29">
            <a:extLst>
              <a:ext uri="{FF2B5EF4-FFF2-40B4-BE49-F238E27FC236}">
                <a16:creationId xmlns:a16="http://schemas.microsoft.com/office/drawing/2014/main" id="{6EB036A3-A3B7-4231-9580-1FE3E99AF086}"/>
              </a:ext>
            </a:extLst>
          </p:cNvPr>
          <p:cNvSpPr txBox="1"/>
          <p:nvPr/>
        </p:nvSpPr>
        <p:spPr>
          <a:xfrm>
            <a:off x="2833469" y="8434491"/>
            <a:ext cx="4497104" cy="55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Mobile App/ Website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165612" y="9212353"/>
            <a:ext cx="1024867" cy="10248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53751" y="384781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56332" y="2386662"/>
            <a:ext cx="845474" cy="914275"/>
            <a:chOff x="0" y="0"/>
            <a:chExt cx="1013945" cy="10964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6803" y="5619031"/>
            <a:ext cx="845474" cy="914275"/>
            <a:chOff x="0" y="0"/>
            <a:chExt cx="1013945" cy="10964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95057" y="55168"/>
              <a:ext cx="823830" cy="938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08102" y="7242210"/>
            <a:ext cx="686948" cy="7825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39"/>
              </a:lnSpc>
            </a:pPr>
            <a:r>
              <a:rPr lang="en-US" sz="1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  <a:p>
            <a:pPr algn="ctr">
              <a:lnSpc>
                <a:spcPts val="2239"/>
              </a:lnSpc>
            </a:pPr>
            <a:endParaRPr lang="en-US" sz="15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8715456" y="1833729"/>
            <a:ext cx="8889572" cy="5944901"/>
          </a:xfrm>
          <a:custGeom>
            <a:avLst/>
            <a:gdLst/>
            <a:ahLst/>
            <a:cxnLst/>
            <a:rect l="l" t="t" r="r" b="b"/>
            <a:pathLst>
              <a:path w="8889572" h="5944901">
                <a:moveTo>
                  <a:pt x="0" y="0"/>
                </a:moveTo>
                <a:lnTo>
                  <a:pt x="8889572" y="0"/>
                </a:lnTo>
                <a:lnTo>
                  <a:pt x="8889572" y="5944901"/>
                </a:lnTo>
                <a:lnTo>
                  <a:pt x="0" y="594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162931" y="595475"/>
            <a:ext cx="5161780" cy="132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4653" b="1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COST STRUCTURE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70597" y="3985494"/>
            <a:ext cx="5628011" cy="11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Training healthcare workers on how to use the system.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22369" y="5584529"/>
            <a:ext cx="5965595" cy="172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Operational expenses in form of regulatory compliance costs and cloud hosting costs.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26402" y="7532170"/>
            <a:ext cx="5716400" cy="172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Marketing and awareness campaigns costs for example use of local musicians.</a:t>
            </a:r>
          </a:p>
        </p:txBody>
      </p:sp>
      <p:grpSp>
        <p:nvGrpSpPr>
          <p:cNvPr id="30" name="Group 16">
            <a:extLst>
              <a:ext uri="{FF2B5EF4-FFF2-40B4-BE49-F238E27FC236}">
                <a16:creationId xmlns:a16="http://schemas.microsoft.com/office/drawing/2014/main" id="{C3917E26-A2D4-4314-AF80-AE7567923FE6}"/>
              </a:ext>
            </a:extLst>
          </p:cNvPr>
          <p:cNvGrpSpPr/>
          <p:nvPr/>
        </p:nvGrpSpPr>
        <p:grpSpPr>
          <a:xfrm>
            <a:off x="1588941" y="4017647"/>
            <a:ext cx="845474" cy="1038710"/>
            <a:chOff x="-1" y="-252021"/>
            <a:chExt cx="1013945" cy="1245684"/>
          </a:xfrm>
        </p:grpSpPr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C8D61766-DFB2-49ED-ADAD-F46C4D12E75E}"/>
                </a:ext>
              </a:extLst>
            </p:cNvPr>
            <p:cNvSpPr/>
            <p:nvPr/>
          </p:nvSpPr>
          <p:spPr>
            <a:xfrm>
              <a:off x="-1" y="-252021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FD982431-13D0-4587-964C-76EDC872D07E}"/>
                </a:ext>
              </a:extLst>
            </p:cNvPr>
            <p:cNvSpPr txBox="1"/>
            <p:nvPr/>
          </p:nvSpPr>
          <p:spPr>
            <a:xfrm>
              <a:off x="95057" y="55169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  <a:p>
              <a:pPr algn="ctr">
                <a:lnSpc>
                  <a:spcPts val="2239"/>
                </a:lnSpc>
              </a:pPr>
              <a:endParaRPr lang="en-US" sz="15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33" name="TextBox 27">
            <a:extLst>
              <a:ext uri="{FF2B5EF4-FFF2-40B4-BE49-F238E27FC236}">
                <a16:creationId xmlns:a16="http://schemas.microsoft.com/office/drawing/2014/main" id="{1465103D-6C87-4F42-A0BD-A91253BDA963}"/>
              </a:ext>
            </a:extLst>
          </p:cNvPr>
          <p:cNvSpPr txBox="1"/>
          <p:nvPr/>
        </p:nvSpPr>
        <p:spPr>
          <a:xfrm>
            <a:off x="2670598" y="2383415"/>
            <a:ext cx="5161780" cy="11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Model development, training and deployment</a:t>
            </a:r>
          </a:p>
        </p:txBody>
      </p:sp>
      <p:grpSp>
        <p:nvGrpSpPr>
          <p:cNvPr id="34" name="Group 19">
            <a:extLst>
              <a:ext uri="{FF2B5EF4-FFF2-40B4-BE49-F238E27FC236}">
                <a16:creationId xmlns:a16="http://schemas.microsoft.com/office/drawing/2014/main" id="{7A653114-160C-4A64-ADC5-8CFF1DFEFDEC}"/>
              </a:ext>
            </a:extLst>
          </p:cNvPr>
          <p:cNvGrpSpPr/>
          <p:nvPr/>
        </p:nvGrpSpPr>
        <p:grpSpPr>
          <a:xfrm>
            <a:off x="1577068" y="7335728"/>
            <a:ext cx="845474" cy="914275"/>
            <a:chOff x="0" y="0"/>
            <a:chExt cx="1013945" cy="1096454"/>
          </a:xfrm>
        </p:grpSpPr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C7295845-AEE4-4E6E-AF12-A988D5B988E0}"/>
                </a:ext>
              </a:extLst>
            </p:cNvPr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6" name="TextBox 21">
              <a:extLst>
                <a:ext uri="{FF2B5EF4-FFF2-40B4-BE49-F238E27FC236}">
                  <a16:creationId xmlns:a16="http://schemas.microsoft.com/office/drawing/2014/main" id="{9DA83E1C-87ED-417E-8748-311394225DE7}"/>
                </a:ext>
              </a:extLst>
            </p:cNvPr>
            <p:cNvSpPr txBox="1"/>
            <p:nvPr/>
          </p:nvSpPr>
          <p:spPr>
            <a:xfrm>
              <a:off x="95057" y="55168"/>
              <a:ext cx="823830" cy="938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06713" y="9212353"/>
            <a:ext cx="1024867" cy="10248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53751" y="384781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56332" y="2691756"/>
            <a:ext cx="845474" cy="914275"/>
            <a:chOff x="0" y="0"/>
            <a:chExt cx="1013945" cy="10964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6332" y="4411692"/>
            <a:ext cx="845474" cy="914275"/>
            <a:chOff x="0" y="0"/>
            <a:chExt cx="1013945" cy="10964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65857" y="6228975"/>
            <a:ext cx="845474" cy="914275"/>
            <a:chOff x="0" y="0"/>
            <a:chExt cx="1013945" cy="109645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3945" cy="1096454"/>
            </a:xfrm>
            <a:custGeom>
              <a:avLst/>
              <a:gdLst/>
              <a:ahLst/>
              <a:cxnLst/>
              <a:rect l="l" t="t" r="r" b="b"/>
              <a:pathLst>
                <a:path w="1013945" h="1096454">
                  <a:moveTo>
                    <a:pt x="506972" y="0"/>
                  </a:moveTo>
                  <a:cubicBezTo>
                    <a:pt x="226979" y="0"/>
                    <a:pt x="0" y="245450"/>
                    <a:pt x="0" y="548227"/>
                  </a:cubicBezTo>
                  <a:cubicBezTo>
                    <a:pt x="0" y="851005"/>
                    <a:pt x="226979" y="1096454"/>
                    <a:pt x="506972" y="1096454"/>
                  </a:cubicBezTo>
                  <a:cubicBezTo>
                    <a:pt x="786965" y="1096454"/>
                    <a:pt x="1013945" y="851005"/>
                    <a:pt x="1013945" y="548227"/>
                  </a:cubicBezTo>
                  <a:cubicBezTo>
                    <a:pt x="1013945" y="245450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95057" y="55168"/>
              <a:ext cx="823830" cy="93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25" name="Freeform 25"/>
          <p:cNvSpPr/>
          <p:nvPr/>
        </p:nvSpPr>
        <p:spPr>
          <a:xfrm>
            <a:off x="9304998" y="1718415"/>
            <a:ext cx="7929424" cy="7027452"/>
          </a:xfrm>
          <a:custGeom>
            <a:avLst/>
            <a:gdLst/>
            <a:ahLst/>
            <a:cxnLst/>
            <a:rect l="l" t="t" r="r" b="b"/>
            <a:pathLst>
              <a:path w="7929424" h="7027452">
                <a:moveTo>
                  <a:pt x="0" y="0"/>
                </a:moveTo>
                <a:lnTo>
                  <a:pt x="7929424" y="0"/>
                </a:lnTo>
                <a:lnTo>
                  <a:pt x="7929424" y="7027451"/>
                </a:lnTo>
                <a:lnTo>
                  <a:pt x="0" y="7027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088594" y="595475"/>
            <a:ext cx="5161780" cy="132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4653" b="1" dirty="0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STREAMS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53269" y="2625081"/>
            <a:ext cx="4497104" cy="114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Subscription fees (monthly/ annual fees)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53269" y="4345017"/>
            <a:ext cx="4497104" cy="114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Per scan fee for public individual use.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53269" y="6194906"/>
            <a:ext cx="4497104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Advertisements and partnerships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665857" y="8048124"/>
            <a:ext cx="845474" cy="914112"/>
            <a:chOff x="0" y="0"/>
            <a:chExt cx="1013945" cy="10962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13945" cy="1096259"/>
            </a:xfrm>
            <a:custGeom>
              <a:avLst/>
              <a:gdLst/>
              <a:ahLst/>
              <a:cxnLst/>
              <a:rect l="l" t="t" r="r" b="b"/>
              <a:pathLst>
                <a:path w="1013945" h="1096259">
                  <a:moveTo>
                    <a:pt x="506972" y="0"/>
                  </a:moveTo>
                  <a:cubicBezTo>
                    <a:pt x="226979" y="0"/>
                    <a:pt x="0" y="245406"/>
                    <a:pt x="0" y="548129"/>
                  </a:cubicBezTo>
                  <a:cubicBezTo>
                    <a:pt x="0" y="850853"/>
                    <a:pt x="226979" y="1096259"/>
                    <a:pt x="506972" y="1096259"/>
                  </a:cubicBezTo>
                  <a:cubicBezTo>
                    <a:pt x="786965" y="1096259"/>
                    <a:pt x="1013945" y="850853"/>
                    <a:pt x="1013945" y="548129"/>
                  </a:cubicBezTo>
                  <a:cubicBezTo>
                    <a:pt x="1013945" y="245406"/>
                    <a:pt x="786965" y="0"/>
                    <a:pt x="5069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2" name="TextBox 32"/>
            <p:cNvSpPr txBox="1"/>
            <p:nvPr/>
          </p:nvSpPr>
          <p:spPr>
            <a:xfrm>
              <a:off x="95057" y="55149"/>
              <a:ext cx="823830" cy="938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  <a:p>
              <a:pPr algn="ctr">
                <a:lnSpc>
                  <a:spcPts val="2239"/>
                </a:lnSpc>
              </a:pPr>
              <a:endParaRPr lang="en-US" sz="15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753269" y="7899324"/>
            <a:ext cx="5327085" cy="114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Grants and Public health organisation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64038" y="4225038"/>
            <a:ext cx="12759923" cy="189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46"/>
              </a:lnSpc>
            </a:pPr>
            <a:r>
              <a:rPr lang="en-US" sz="140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530793"/>
            <a:ext cx="966845" cy="995814"/>
          </a:xfrm>
          <a:custGeom>
            <a:avLst/>
            <a:gdLst/>
            <a:ahLst/>
            <a:cxnLst/>
            <a:rect l="l" t="t" r="r" b="b"/>
            <a:pathLst>
              <a:path w="966845" h="995814">
                <a:moveTo>
                  <a:pt x="0" y="0"/>
                </a:moveTo>
                <a:lnTo>
                  <a:pt x="966845" y="0"/>
                </a:lnTo>
                <a:lnTo>
                  <a:pt x="966845" y="995814"/>
                </a:lnTo>
                <a:lnTo>
                  <a:pt x="0" y="9958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7669737" y="7905501"/>
            <a:ext cx="2948526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277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Open Sans Bold</vt:lpstr>
      <vt:lpstr>Arial</vt:lpstr>
      <vt:lpstr>Montserrat Bold</vt:lpstr>
      <vt:lpstr>Calibri</vt:lpstr>
      <vt:lpstr>Open Sans</vt:lpstr>
      <vt:lpstr>Montserrat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Pitch Deck Presentation</dc:title>
  <dc:creator>9th-water-lily</dc:creator>
  <cp:lastModifiedBy>9th- water-lily</cp:lastModifiedBy>
  <cp:revision>5</cp:revision>
  <dcterms:created xsi:type="dcterms:W3CDTF">2006-08-16T00:00:00Z</dcterms:created>
  <dcterms:modified xsi:type="dcterms:W3CDTF">2025-04-27T09:53:30Z</dcterms:modified>
  <dc:identifier>DAGikVxGoeI</dc:identifier>
</cp:coreProperties>
</file>